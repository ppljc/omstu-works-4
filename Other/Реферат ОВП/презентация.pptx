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9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4630400" cy="10972800"/>
  <p:notesSz cx="10972800" cy="14630400"/>
  <p:embeddedFontLst>
    <p:embeddedFont>
      <p:font typeface="Noto Sans"/>
      <p:regular r:id="rId11"/>
      <p:bold r:id="rId12"/>
      <p:italic r:id="rId13"/>
      <p:boldItalic r:id="rId14"/>
    </p:embeddedFont>
    <p:embeddedFont>
      <p:font typeface="Calibri Light"/>
    </p:embeddedFont>
    <p:embeddedFont>
      <p:font typeface="Kanit Light"/>
      <p:regular r:id="rId15"/>
      <p:italic r:id="rId16"/>
    </p:embeddedFont>
    <p:embeddedFont>
      <p:font typeface="Martel Sans"/>
      <p:regular r:id="rId17"/>
      <p:bold r:id="rId18"/>
    </p:embeddedFont>
    <p:embeddedFont>
      <p:font typeface="Noto Sans Devanagari"/>
      <p:regular r:id="rId19"/>
      <p:bold r:id="rId20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font" Target="fonts/Font_1_Noto_Sans_Regular.fntdata"/><Relationship Id="rId12" Type="http://schemas.openxmlformats.org/officeDocument/2006/relationships/font" Target="fonts/Font_2_Noto_Sans_Bold.fntdata"/><Relationship Id="rId13" Type="http://schemas.openxmlformats.org/officeDocument/2006/relationships/font" Target="fonts/Font_3_Noto_Sans_Italic.fntdata"/><Relationship Id="rId14" Type="http://schemas.openxmlformats.org/officeDocument/2006/relationships/font" Target="fonts/Font_4_Noto_Sans_BoldItalic.fntdata"/><Relationship Id="rId15" Type="http://schemas.openxmlformats.org/officeDocument/2006/relationships/font" Target="fonts/Font_5_Kanit_Light_Regular.fntdata"/><Relationship Id="rId16" Type="http://schemas.openxmlformats.org/officeDocument/2006/relationships/font" Target="fonts/Font_6_Kanit_Light_Italic.fntdata"/><Relationship Id="rId17" Type="http://schemas.openxmlformats.org/officeDocument/2006/relationships/font" Target="fonts/Font_7_Martel_Sans_Regular.fntdata"/><Relationship Id="rId18" Type="http://schemas.openxmlformats.org/officeDocument/2006/relationships/font" Target="fonts/Font_8_Martel_Sans_Bold.fntdata"/><Relationship Id="rId19" Type="http://schemas.openxmlformats.org/officeDocument/2006/relationships/font" Target="fonts/Font_9_Noto_Sans_Devanagari_Regular.fntdata"/><Relationship Id="rId20" Type="http://schemas.openxmlformats.org/officeDocument/2006/relationships/font" Target="fonts/Font_10_Noto_Sans_Devanagari_Bold.fntdata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Для перемещения страницы щёлкните мышью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&lt;верхний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D1C5F56-AC45-48CC-92FF-A095A590075A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A71F160-04AD-493A-A060-25BB5021222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266197D-5B35-4BAC-A12F-A2335FC8FAC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E9D8D0E-D48D-4141-B902-C48B0828A58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572D440-4829-4FE3-9051-88039A5FCE7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2C2FF16-27D8-4181-AC17-5A39717F887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4371491-4197-4A54-BF74-9EF0735B07A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C70890C-F4ED-49FD-A2FD-EF70BD0A7B9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040" cy="10972440"/>
          </a:xfrm>
          <a:prstGeom prst="rect">
            <a:avLst/>
          </a:prstGeom>
          <a:solidFill>
            <a:srgbClr val="EBF4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040" cy="10972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104929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31520" y="437760"/>
            <a:ext cx="13167000" cy="183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731520" y="2567520"/>
            <a:ext cx="13167000" cy="636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/>
          <p:cNvSpPr/>
          <p:nvPr/>
        </p:nvSpPr>
        <p:spPr>
          <a:xfrm>
            <a:off x="0" y="0"/>
            <a:ext cx="14630040" cy="10972440"/>
          </a:xfrm>
          <a:prstGeom prst="rect">
            <a:avLst/>
          </a:prstGeom>
          <a:solidFill>
            <a:srgbClr val="EBF4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Shape 1"/>
          <p:cNvSpPr/>
          <p:nvPr/>
        </p:nvSpPr>
        <p:spPr>
          <a:xfrm>
            <a:off x="0" y="0"/>
            <a:ext cx="14630040" cy="10972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104929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31520" y="437760"/>
            <a:ext cx="13167000" cy="183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31520" y="2567520"/>
            <a:ext cx="13167000" cy="636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0" y="0"/>
            <a:ext cx="14630040" cy="10972440"/>
          </a:xfrm>
          <a:prstGeom prst="rect">
            <a:avLst/>
          </a:prstGeom>
          <a:solidFill>
            <a:srgbClr val="EBF4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1"/>
          <p:cNvSpPr/>
          <p:nvPr/>
        </p:nvSpPr>
        <p:spPr>
          <a:xfrm>
            <a:off x="0" y="0"/>
            <a:ext cx="14630040" cy="10972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104929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31520" y="437760"/>
            <a:ext cx="13167000" cy="183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731520" y="2567520"/>
            <a:ext cx="13167000" cy="636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0"/>
          <p:cNvSpPr/>
          <p:nvPr/>
        </p:nvSpPr>
        <p:spPr>
          <a:xfrm>
            <a:off x="0" y="0"/>
            <a:ext cx="14630040" cy="10972440"/>
          </a:xfrm>
          <a:prstGeom prst="rect">
            <a:avLst/>
          </a:prstGeom>
          <a:solidFill>
            <a:srgbClr val="EBF4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"/>
          <p:cNvSpPr/>
          <p:nvPr/>
        </p:nvSpPr>
        <p:spPr>
          <a:xfrm>
            <a:off x="0" y="0"/>
            <a:ext cx="14630040" cy="10972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104929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31520" y="437760"/>
            <a:ext cx="13167000" cy="183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31520" y="2567520"/>
            <a:ext cx="13167000" cy="636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/>
          <p:cNvSpPr/>
          <p:nvPr/>
        </p:nvSpPr>
        <p:spPr>
          <a:xfrm>
            <a:off x="0" y="0"/>
            <a:ext cx="14630040" cy="10972440"/>
          </a:xfrm>
          <a:prstGeom prst="rect">
            <a:avLst/>
          </a:prstGeom>
          <a:solidFill>
            <a:srgbClr val="EBF4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"/>
          <p:cNvSpPr/>
          <p:nvPr/>
        </p:nvSpPr>
        <p:spPr>
          <a:xfrm>
            <a:off x="0" y="0"/>
            <a:ext cx="14630040" cy="10972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104929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31520" y="437760"/>
            <a:ext cx="13167000" cy="183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731520" y="2567520"/>
            <a:ext cx="13167000" cy="636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0" y="0"/>
            <a:ext cx="14630040" cy="10972440"/>
          </a:xfrm>
          <a:prstGeom prst="rect">
            <a:avLst/>
          </a:prstGeom>
          <a:solidFill>
            <a:srgbClr val="EBF4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"/>
          <p:cNvSpPr/>
          <p:nvPr/>
        </p:nvSpPr>
        <p:spPr>
          <a:xfrm>
            <a:off x="0" y="0"/>
            <a:ext cx="14630040" cy="10972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104929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31520" y="437760"/>
            <a:ext cx="13167000" cy="183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731520" y="2567520"/>
            <a:ext cx="13167000" cy="636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0"/>
          <p:cNvSpPr/>
          <p:nvPr/>
        </p:nvSpPr>
        <p:spPr>
          <a:xfrm>
            <a:off x="0" y="0"/>
            <a:ext cx="14630040" cy="10972440"/>
          </a:xfrm>
          <a:prstGeom prst="rect">
            <a:avLst/>
          </a:prstGeom>
          <a:solidFill>
            <a:srgbClr val="EBF4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"/>
          <p:cNvSpPr/>
          <p:nvPr/>
        </p:nvSpPr>
        <p:spPr>
          <a:xfrm>
            <a:off x="0" y="0"/>
            <a:ext cx="14630040" cy="109724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10492920"/>
            <a:ext cx="1722240" cy="4111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5.jpe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jpe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14.jpe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6040" cy="1097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Shape 0"/>
          <p:cNvSpPr/>
          <p:nvPr/>
        </p:nvSpPr>
        <p:spPr>
          <a:xfrm>
            <a:off x="0" y="0"/>
            <a:ext cx="5486040" cy="10972440"/>
          </a:xfrm>
          <a:prstGeom prst="rect">
            <a:avLst/>
          </a:prstGeom>
          <a:solidFill>
            <a:srgbClr val="DFDF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5486040" cy="1097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Text 1"/>
          <p:cNvSpPr/>
          <p:nvPr/>
        </p:nvSpPr>
        <p:spPr>
          <a:xfrm>
            <a:off x="6300000" y="3420000"/>
            <a:ext cx="7556040" cy="303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5550"/>
              </a:lnSpc>
              <a:tabLst>
                <a:tab pos="0" algn="l"/>
              </a:tabLst>
            </a:pPr>
            <a:r>
              <a:rPr lang="en-US" sz="4450" b="0" u="none" strike="noStrike">
                <a:solidFill>
                  <a:srgbClr val="272D45"/>
                </a:solidFill>
                <a:effectLst/>
                <a:uFillTx/>
                <a:latin typeface="Kanit Light"/>
                <a:ea typeface="Kanit Light"/>
              </a:rPr>
              <a:t>Причины, общий ход, исход и историческое значение Отечественной войны 1812 года</a:t>
            </a:r>
            <a:endParaRPr lang="ru-RU" sz="4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"/>
          <p:cNvSpPr/>
          <p:nvPr/>
        </p:nvSpPr>
        <p:spPr>
          <a:xfrm>
            <a:off x="6280200" y="6651720"/>
            <a:ext cx="755604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2C3249"/>
                </a:solidFill>
                <a:effectLst/>
                <a:uFillTx/>
                <a:latin typeface="Martel Sans"/>
                <a:ea typeface="Martel Sans"/>
              </a:rPr>
              <a:t>Работу выполнил: 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2C3249"/>
                </a:solidFill>
                <a:effectLst/>
                <a:uFillTx/>
                <a:latin typeface="Martel Sans"/>
                <a:ea typeface="Martel Sans"/>
              </a:rPr>
              <a:t>Шмидт Антон Владиславович,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2C3249"/>
                </a:solidFill>
                <a:effectLst/>
                <a:uFillTx/>
                <a:latin typeface="Martel Sans"/>
                <a:ea typeface="Martel Sans"/>
              </a:rPr>
              <a:t>студент 231о учебного взвода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" name=""/>
          <p:cNvPicPr/>
          <p:nvPr/>
        </p:nvPicPr>
        <p:blipFill>
          <a:blip r:embed="rId3"/>
          <a:srcRect l="36325" t="0" r="24120" b="0"/>
          <a:stretch/>
        </p:blipFill>
        <p:spPr>
          <a:xfrm>
            <a:off x="0" y="0"/>
            <a:ext cx="5485680" cy="10972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"/>
          <p:cNvSpPr/>
          <p:nvPr/>
        </p:nvSpPr>
        <p:spPr>
          <a:xfrm>
            <a:off x="12780000" y="10260000"/>
            <a:ext cx="1850400" cy="7128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6040" cy="1097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Shape 0"/>
          <p:cNvSpPr/>
          <p:nvPr/>
        </p:nvSpPr>
        <p:spPr>
          <a:xfrm>
            <a:off x="0" y="0"/>
            <a:ext cx="5486040" cy="10972440"/>
          </a:xfrm>
          <a:prstGeom prst="rect">
            <a:avLst/>
          </a:prstGeom>
          <a:solidFill>
            <a:srgbClr val="DFDF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5486040" cy="1097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Text 1"/>
          <p:cNvSpPr/>
          <p:nvPr/>
        </p:nvSpPr>
        <p:spPr>
          <a:xfrm>
            <a:off x="6280200" y="2146680"/>
            <a:ext cx="7556040" cy="14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5550"/>
              </a:lnSpc>
              <a:tabLst>
                <a:tab pos="0" algn="l"/>
              </a:tabLst>
            </a:pPr>
            <a:r>
              <a:rPr lang="en-US" sz="4450" b="0" u="none" strike="noStrike">
                <a:solidFill>
                  <a:srgbClr val="272D45"/>
                </a:solidFill>
                <a:effectLst/>
                <a:uFillTx/>
                <a:latin typeface="Kanit Light"/>
                <a:ea typeface="Kanit Light"/>
              </a:rPr>
              <a:t>Столкновение военных систем</a:t>
            </a:r>
            <a:endParaRPr lang="ru-RU" sz="4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2"/>
          <p:cNvSpPr/>
          <p:nvPr/>
        </p:nvSpPr>
        <p:spPr>
          <a:xfrm>
            <a:off x="6116760" y="3904560"/>
            <a:ext cx="3827880" cy="3577320"/>
          </a:xfrm>
          <a:prstGeom prst="roundRect">
            <a:avLst>
              <a:gd name="adj" fmla="val 4565"/>
            </a:avLst>
          </a:prstGeom>
          <a:solidFill>
            <a:srgbClr val="4370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"/>
          <p:cNvSpPr/>
          <p:nvPr/>
        </p:nvSpPr>
        <p:spPr>
          <a:xfrm>
            <a:off x="6343560" y="4131360"/>
            <a:ext cx="337428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Kanit Light"/>
                <a:ea typeface="Kanit Light"/>
              </a:rPr>
              <a:t>Наполеоновская Франция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4"/>
          <p:cNvSpPr/>
          <p:nvPr/>
        </p:nvSpPr>
        <p:spPr>
          <a:xfrm>
            <a:off x="6343560" y="5067000"/>
            <a:ext cx="3374280" cy="233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750" b="0" u="none" strike="noStrike">
                <a:solidFill>
                  <a:srgbClr val="FFFFFF"/>
                </a:solidFill>
                <a:effectLst/>
                <a:uFillTx/>
                <a:latin typeface="Martel Sans"/>
                <a:ea typeface="Martel Sans"/>
              </a:rPr>
              <a:t>Колоссальные людские резервы Европы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2849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750" b="0" u="none" strike="noStrike">
                <a:solidFill>
                  <a:srgbClr val="FFFFFF"/>
                </a:solidFill>
                <a:effectLst/>
                <a:uFillTx/>
                <a:latin typeface="Martel Sans"/>
                <a:ea typeface="Martel Sans"/>
              </a:rPr>
              <a:t>Тактика сокрушения в генеральных сражениях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2849"/>
              </a:lnSpc>
              <a:buClr>
                <a:srgbClr val="FFFFFF"/>
              </a:buClr>
              <a:buFont typeface="Symbol" charset="2"/>
              <a:buChar char=""/>
            </a:pPr>
            <a:r>
              <a:rPr lang="en-US" sz="1750" b="0" u="none" strike="noStrike">
                <a:solidFill>
                  <a:srgbClr val="FFFFFF"/>
                </a:solidFill>
                <a:effectLst/>
                <a:uFillTx/>
                <a:latin typeface="Martel Sans"/>
                <a:ea typeface="Martel Sans"/>
              </a:rPr>
              <a:t>Непобедимая военная машина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5"/>
          <p:cNvSpPr/>
          <p:nvPr/>
        </p:nvSpPr>
        <p:spPr>
          <a:xfrm>
            <a:off x="10342800" y="413136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272D45"/>
                </a:solidFill>
                <a:effectLst/>
                <a:uFillTx/>
                <a:latin typeface="Kanit Light"/>
                <a:ea typeface="Kanit Light"/>
              </a:rPr>
              <a:t>Россия отвечает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6"/>
          <p:cNvSpPr/>
          <p:nvPr/>
        </p:nvSpPr>
        <p:spPr>
          <a:xfrm>
            <a:off x="10342800" y="4712400"/>
            <a:ext cx="3501000" cy="233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>
              <a:lnSpc>
                <a:spcPts val="2849"/>
              </a:lnSpc>
              <a:buClr>
                <a:srgbClr val="2C3249"/>
              </a:buClr>
              <a:buFont typeface="Symbol" charset="2"/>
              <a:buChar char=""/>
            </a:pPr>
            <a:r>
              <a:rPr lang="en-US" sz="1750" b="0" u="none" strike="noStrike">
                <a:solidFill>
                  <a:srgbClr val="2C3249"/>
                </a:solidFill>
                <a:effectLst/>
                <a:uFillTx/>
                <a:latin typeface="Martel Sans"/>
                <a:ea typeface="Martel Sans"/>
              </a:rPr>
              <a:t>Традиции суворовской школы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2849"/>
              </a:lnSpc>
              <a:buClr>
                <a:srgbClr val="2C3249"/>
              </a:buClr>
              <a:buFont typeface="Symbol" charset="2"/>
              <a:buChar char=""/>
            </a:pPr>
            <a:r>
              <a:rPr lang="en-US" sz="1750" b="0" u="none" strike="noStrike">
                <a:solidFill>
                  <a:srgbClr val="2C3249"/>
                </a:solidFill>
                <a:effectLst/>
                <a:uFillTx/>
                <a:latin typeface="Martel Sans"/>
                <a:ea typeface="Martel Sans"/>
              </a:rPr>
              <a:t>Глубокое стратегическое маневрирование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2849"/>
              </a:lnSpc>
              <a:buClr>
                <a:srgbClr val="2C3249"/>
              </a:buClr>
              <a:buFont typeface="Symbol" charset="2"/>
              <a:buChar char=""/>
            </a:pPr>
            <a:r>
              <a:rPr lang="en-US" sz="1750" b="0" u="none" strike="noStrike">
                <a:solidFill>
                  <a:srgbClr val="2C3249"/>
                </a:solidFill>
                <a:effectLst/>
                <a:uFillTx/>
                <a:latin typeface="Martel Sans"/>
                <a:ea typeface="Martel Sans"/>
              </a:rPr>
              <a:t>Климат и география как элементы обороны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7"/>
          <p:cNvSpPr/>
          <p:nvPr/>
        </p:nvSpPr>
        <p:spPr>
          <a:xfrm>
            <a:off x="6280200" y="7737120"/>
            <a:ext cx="755604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2C3249"/>
                </a:solidFill>
                <a:effectLst/>
                <a:uFillTx/>
                <a:latin typeface="Martel Sans"/>
                <a:ea typeface="Martel Sans"/>
              </a:rPr>
              <a:t>Для России конфликт стал экзистенциальной угрозой — столкновением с сильнейшей армией мира. Русская стратегия обратила природу в союзника.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" name=""/>
          <p:cNvPicPr/>
          <p:nvPr/>
        </p:nvPicPr>
        <p:blipFill>
          <a:blip r:embed="rId3"/>
          <a:srcRect l="21143" t="0" r="48144" b="0"/>
          <a:stretch/>
        </p:blipFill>
        <p:spPr>
          <a:xfrm>
            <a:off x="0" y="0"/>
            <a:ext cx="5485680" cy="10972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"/>
          <p:cNvSpPr/>
          <p:nvPr/>
        </p:nvSpPr>
        <p:spPr>
          <a:xfrm>
            <a:off x="12780000" y="10260000"/>
            <a:ext cx="1850400" cy="7128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0"/>
          <p:cNvSpPr/>
          <p:nvPr/>
        </p:nvSpPr>
        <p:spPr>
          <a:xfrm>
            <a:off x="750600" y="5375880"/>
            <a:ext cx="567036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5550"/>
              </a:lnSpc>
              <a:tabLst>
                <a:tab pos="0" algn="l"/>
              </a:tabLst>
            </a:pPr>
            <a:r>
              <a:rPr lang="en-US" sz="4450" b="0" u="none" strike="noStrike">
                <a:solidFill>
                  <a:srgbClr val="272D45"/>
                </a:solidFill>
                <a:effectLst/>
                <a:uFillTx/>
                <a:latin typeface="Kanit Light"/>
                <a:ea typeface="Kanit Light"/>
              </a:rPr>
              <a:t>Причины войны</a:t>
            </a:r>
            <a:endParaRPr lang="ru-RU" sz="4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"/>
          <p:cNvSpPr/>
          <p:nvPr/>
        </p:nvSpPr>
        <p:spPr>
          <a:xfrm>
            <a:off x="750600" y="6537960"/>
            <a:ext cx="4196160" cy="3182040"/>
          </a:xfrm>
          <a:prstGeom prst="roundRect">
            <a:avLst>
              <a:gd name="adj" fmla="val 4597"/>
            </a:avLst>
          </a:prstGeom>
          <a:solidFill>
            <a:srgbClr val="FFFFFF"/>
          </a:solidFill>
          <a:ln w="30480">
            <a:solidFill>
              <a:srgbClr val="C5D2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2"/>
          <p:cNvSpPr/>
          <p:nvPr/>
        </p:nvSpPr>
        <p:spPr>
          <a:xfrm>
            <a:off x="720000" y="6537960"/>
            <a:ext cx="121680" cy="3182040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3"/>
          <p:cNvSpPr/>
          <p:nvPr/>
        </p:nvSpPr>
        <p:spPr>
          <a:xfrm>
            <a:off x="1099440" y="6795360"/>
            <a:ext cx="356364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2C3249"/>
                </a:solidFill>
                <a:effectLst/>
                <a:uFillTx/>
                <a:latin typeface="Kanit Light"/>
                <a:ea typeface="Kanit Light"/>
              </a:rPr>
              <a:t>Экономическое давление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4"/>
          <p:cNvSpPr/>
          <p:nvPr/>
        </p:nvSpPr>
        <p:spPr>
          <a:xfrm>
            <a:off x="1099440" y="7285680"/>
            <a:ext cx="3589920" cy="21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2C3249"/>
                </a:solidFill>
                <a:effectLst/>
                <a:uFillTx/>
                <a:latin typeface="Martel Sans"/>
                <a:ea typeface="Martel Sans"/>
              </a:rPr>
              <a:t>Континентальная блокада Англии, навязанная Наполеоном, вела к хроническому дефициту российского бюджета и подрывала торговлю.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5"/>
          <p:cNvSpPr/>
          <p:nvPr/>
        </p:nvSpPr>
        <p:spPr>
          <a:xfrm>
            <a:off x="5173920" y="6537960"/>
            <a:ext cx="4196160" cy="3182040"/>
          </a:xfrm>
          <a:prstGeom prst="roundRect">
            <a:avLst>
              <a:gd name="adj" fmla="val 4597"/>
            </a:avLst>
          </a:prstGeom>
          <a:solidFill>
            <a:srgbClr val="FFFFFF"/>
          </a:solidFill>
          <a:ln w="30480">
            <a:solidFill>
              <a:srgbClr val="C5D2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6"/>
          <p:cNvSpPr/>
          <p:nvPr/>
        </p:nvSpPr>
        <p:spPr>
          <a:xfrm>
            <a:off x="5143320" y="6537960"/>
            <a:ext cx="121680" cy="3182040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7"/>
          <p:cNvSpPr/>
          <p:nvPr/>
        </p:nvSpPr>
        <p:spPr>
          <a:xfrm>
            <a:off x="5522400" y="6795360"/>
            <a:ext cx="337392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2C3249"/>
                </a:solidFill>
                <a:effectLst/>
                <a:uFillTx/>
                <a:latin typeface="Kanit Light"/>
                <a:ea typeface="Kanit Light"/>
              </a:rPr>
              <a:t>Геополитическая угроза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8"/>
          <p:cNvSpPr/>
          <p:nvPr/>
        </p:nvSpPr>
        <p:spPr>
          <a:xfrm>
            <a:off x="5522400" y="7285680"/>
            <a:ext cx="3589920" cy="18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2C3249"/>
                </a:solidFill>
                <a:effectLst/>
                <a:uFillTx/>
                <a:latin typeface="Martel Sans"/>
                <a:ea typeface="Martel Sans"/>
              </a:rPr>
              <a:t>Герцогство Варшавское превратилось в плацдарм французского влияния непосредственно у западных рубежей Российской империи.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9"/>
          <p:cNvSpPr/>
          <p:nvPr/>
        </p:nvSpPr>
        <p:spPr>
          <a:xfrm>
            <a:off x="9596880" y="6537960"/>
            <a:ext cx="4196160" cy="3182040"/>
          </a:xfrm>
          <a:prstGeom prst="roundRect">
            <a:avLst>
              <a:gd name="adj" fmla="val 4597"/>
            </a:avLst>
          </a:prstGeom>
          <a:solidFill>
            <a:srgbClr val="FFFFFF"/>
          </a:solidFill>
          <a:ln w="30480">
            <a:solidFill>
              <a:srgbClr val="C5D2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0"/>
          <p:cNvSpPr/>
          <p:nvPr/>
        </p:nvSpPr>
        <p:spPr>
          <a:xfrm>
            <a:off x="9566280" y="6537960"/>
            <a:ext cx="121680" cy="3182040"/>
          </a:xfrm>
          <a:prstGeom prst="roundRect">
            <a:avLst>
              <a:gd name="adj" fmla="val 78139"/>
            </a:avLst>
          </a:prstGeom>
          <a:solidFill>
            <a:srgbClr val="4370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1"/>
          <p:cNvSpPr/>
          <p:nvPr/>
        </p:nvSpPr>
        <p:spPr>
          <a:xfrm>
            <a:off x="9945720" y="679536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2C3249"/>
                </a:solidFill>
                <a:effectLst/>
                <a:uFillTx/>
                <a:latin typeface="Kanit Light"/>
                <a:ea typeface="Kanit Light"/>
              </a:rPr>
              <a:t>Народная война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2"/>
          <p:cNvSpPr/>
          <p:nvPr/>
        </p:nvSpPr>
        <p:spPr>
          <a:xfrm>
            <a:off x="9945720" y="7285680"/>
            <a:ext cx="3589920" cy="21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2C3249"/>
                </a:solidFill>
                <a:effectLst/>
                <a:uFillTx/>
                <a:latin typeface="Martel Sans"/>
                <a:ea typeface="Martel Sans"/>
              </a:rPr>
              <a:t>Для Наполеона — война завоевательная. Для России — Отечественная. Небывалый патриотический подъём породил ополчение и партизанские отряды.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3" name=""/>
          <p:cNvPicPr/>
          <p:nvPr/>
        </p:nvPicPr>
        <p:blipFill>
          <a:blip r:embed="rId1"/>
          <a:srcRect l="0" t="0" r="0" b="35724"/>
          <a:stretch/>
        </p:blipFill>
        <p:spPr>
          <a:xfrm>
            <a:off x="0" y="360"/>
            <a:ext cx="14630400" cy="503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"/>
          <p:cNvSpPr/>
          <p:nvPr/>
        </p:nvSpPr>
        <p:spPr>
          <a:xfrm>
            <a:off x="12780000" y="10260000"/>
            <a:ext cx="1850400" cy="7128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/>
          <p:cNvSpPr/>
          <p:nvPr/>
        </p:nvSpPr>
        <p:spPr>
          <a:xfrm>
            <a:off x="720000" y="5040000"/>
            <a:ext cx="1066644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5550"/>
              </a:lnSpc>
              <a:tabLst>
                <a:tab pos="0" algn="l"/>
              </a:tabLst>
            </a:pPr>
            <a:r>
              <a:rPr lang="en-US" sz="4450" b="0" u="none" strike="noStrike">
                <a:solidFill>
                  <a:srgbClr val="272D45"/>
                </a:solidFill>
                <a:effectLst/>
                <a:uFillTx/>
                <a:latin typeface="Kanit Light"/>
                <a:ea typeface="Kanit Light"/>
              </a:rPr>
              <a:t>Ход кампании: от Немана до Бородина</a:t>
            </a:r>
            <a:endParaRPr lang="ru-RU" sz="4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6" name="Image 0" descr="preencoded.png"/>
          <p:cNvPicPr/>
          <p:nvPr/>
        </p:nvPicPr>
        <p:blipFill>
          <a:blip r:embed="rId1"/>
          <a:stretch/>
        </p:blipFill>
        <p:spPr>
          <a:xfrm>
            <a:off x="720000" y="6344280"/>
            <a:ext cx="6924240" cy="366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 1"/>
          <p:cNvSpPr/>
          <p:nvPr/>
        </p:nvSpPr>
        <p:spPr>
          <a:xfrm>
            <a:off x="1557000" y="8965440"/>
            <a:ext cx="183348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ts val="165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72D45"/>
                </a:solidFill>
                <a:effectLst/>
                <a:uFillTx/>
                <a:latin typeface="Kanit Light"/>
                <a:ea typeface="Kanit Light"/>
              </a:rPr>
              <a:t>Форсирование Немана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"/>
          <p:cNvSpPr/>
          <p:nvPr/>
        </p:nvSpPr>
        <p:spPr>
          <a:xfrm>
            <a:off x="1557000" y="9454320"/>
            <a:ext cx="1833480" cy="5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ts val="130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C3249"/>
                </a:solidFill>
                <a:effectLst/>
                <a:uFillTx/>
                <a:latin typeface="Martel Sans"/>
                <a:ea typeface="Martel Sans"/>
              </a:rPr>
              <a:t>600 тыс. солдат пересекают реку, июнь 1812.</a:t>
            </a:r>
            <a:endParaRPr lang="ru-R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3"/>
          <p:cNvSpPr/>
          <p:nvPr/>
        </p:nvSpPr>
        <p:spPr>
          <a:xfrm>
            <a:off x="887400" y="6559200"/>
            <a:ext cx="183348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ts val="165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72D45"/>
                </a:solidFill>
                <a:effectLst/>
                <a:uFillTx/>
                <a:latin typeface="Kanit Light"/>
                <a:ea typeface="Kanit Light"/>
              </a:rPr>
              <a:t>Отступление и манёвр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4"/>
          <p:cNvSpPr/>
          <p:nvPr/>
        </p:nvSpPr>
        <p:spPr>
          <a:xfrm>
            <a:off x="887400" y="7048080"/>
            <a:ext cx="183348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ts val="130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C3249"/>
                </a:solidFill>
                <a:effectLst/>
                <a:uFillTx/>
                <a:latin typeface="Martel Sans"/>
                <a:ea typeface="Martel Sans"/>
              </a:rPr>
              <a:t>Соединение Барклая и Багратиона без схваток.</a:t>
            </a:r>
            <a:endParaRPr lang="ru-R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5"/>
          <p:cNvSpPr/>
          <p:nvPr/>
        </p:nvSpPr>
        <p:spPr>
          <a:xfrm>
            <a:off x="4996440" y="6559200"/>
            <a:ext cx="183348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165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72D45"/>
                </a:solidFill>
                <a:effectLst/>
                <a:uFillTx/>
                <a:latin typeface="Kanit Light"/>
                <a:ea typeface="Kanit Light"/>
              </a:rPr>
              <a:t>Бородинское сражение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6"/>
          <p:cNvSpPr/>
          <p:nvPr/>
        </p:nvSpPr>
        <p:spPr>
          <a:xfrm>
            <a:off x="4996440" y="7048080"/>
            <a:ext cx="1833480" cy="34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130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C3249"/>
                </a:solidFill>
                <a:effectLst/>
                <a:uFillTx/>
                <a:latin typeface="Martel Sans"/>
                <a:ea typeface="Martel Sans"/>
              </a:rPr>
              <a:t>Величайшая битва кампании, кровопролитие.</a:t>
            </a:r>
            <a:endParaRPr lang="ru-R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7"/>
          <p:cNvSpPr/>
          <p:nvPr/>
        </p:nvSpPr>
        <p:spPr>
          <a:xfrm>
            <a:off x="5643000" y="8965440"/>
            <a:ext cx="176076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165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272D45"/>
                </a:solidFill>
                <a:effectLst/>
                <a:uFillTx/>
                <a:latin typeface="Kanit Light"/>
                <a:ea typeface="Kanit Light"/>
              </a:rPr>
              <a:t>Вступление в Москву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8"/>
          <p:cNvSpPr/>
          <p:nvPr/>
        </p:nvSpPr>
        <p:spPr>
          <a:xfrm>
            <a:off x="5643000" y="9240480"/>
            <a:ext cx="1833480" cy="5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130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C3249"/>
                </a:solidFill>
                <a:effectLst/>
                <a:uFillTx/>
                <a:latin typeface="Martel Sans"/>
                <a:ea typeface="Martel Sans"/>
              </a:rPr>
              <a:t>Пиррова победа Наполеона, город оставлен.</a:t>
            </a:r>
            <a:endParaRPr lang="ru-R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9"/>
          <p:cNvSpPr/>
          <p:nvPr/>
        </p:nvSpPr>
        <p:spPr>
          <a:xfrm>
            <a:off x="8205480" y="634536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272D45"/>
                </a:solidFill>
                <a:effectLst/>
                <a:uFillTx/>
                <a:latin typeface="Kanit Light"/>
                <a:ea typeface="Kanit Light"/>
              </a:rPr>
              <a:t>Ключевые решения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0"/>
          <p:cNvSpPr/>
          <p:nvPr/>
        </p:nvSpPr>
        <p:spPr>
          <a:xfrm>
            <a:off x="8205480" y="6926400"/>
            <a:ext cx="5564520" cy="14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2C3249"/>
                </a:solidFill>
                <a:effectLst/>
                <a:uFillTx/>
                <a:latin typeface="Martel Sans"/>
                <a:ea typeface="Martel Sans"/>
              </a:rPr>
              <a:t>Русские армии были рассредоточены. Главной задачей стало </a:t>
            </a:r>
            <a:r>
              <a:rPr lang="en-US" sz="1750" b="1" u="none" strike="noStrike">
                <a:solidFill>
                  <a:srgbClr val="2C3249"/>
                </a:solidFill>
                <a:effectLst/>
                <a:uFillTx/>
                <a:latin typeface="Martel Sans"/>
                <a:ea typeface="Martel Sans"/>
              </a:rPr>
              <a:t>соединение сил Барклая-де-Толли и Багратиона</a:t>
            </a:r>
            <a:r>
              <a:rPr lang="en-US" sz="1750" b="0" u="none" strike="noStrike">
                <a:solidFill>
                  <a:srgbClr val="2C3249"/>
                </a:solidFill>
                <a:effectLst/>
                <a:uFillTx/>
                <a:latin typeface="Martel Sans"/>
                <a:ea typeface="Martel Sans"/>
              </a:rPr>
              <a:t> без вступления в невыгодные сражения.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1"/>
          <p:cNvSpPr/>
          <p:nvPr/>
        </p:nvSpPr>
        <p:spPr>
          <a:xfrm>
            <a:off x="8205480" y="8582040"/>
            <a:ext cx="5564520" cy="14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2C3249"/>
                </a:solidFill>
                <a:effectLst/>
                <a:uFillTx/>
                <a:latin typeface="Martel Sans"/>
                <a:ea typeface="Martel Sans"/>
              </a:rPr>
              <a:t>Бородино стало кульминацией: французская армия понесла тяжелейшие потери, однако русские войска </a:t>
            </a:r>
            <a:r>
              <a:rPr lang="en-US" sz="1750" b="1" u="none" strike="noStrike">
                <a:solidFill>
                  <a:srgbClr val="2C3249"/>
                </a:solidFill>
                <a:effectLst/>
                <a:uFillTx/>
                <a:latin typeface="Martel Sans"/>
                <a:ea typeface="Martel Sans"/>
              </a:rPr>
              <a:t>сохранили управление и боеспособность</a:t>
            </a:r>
            <a:r>
              <a:rPr lang="en-US" sz="1750" b="0" u="none" strike="noStrike">
                <a:solidFill>
                  <a:srgbClr val="2C3249"/>
                </a:solidFill>
                <a:effectLst/>
                <a:uFillTx/>
                <a:latin typeface="Martel Sans"/>
                <a:ea typeface="Martel Sans"/>
              </a:rPr>
              <a:t>.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8" name=""/>
          <p:cNvPicPr/>
          <p:nvPr/>
        </p:nvPicPr>
        <p:blipFill>
          <a:blip r:embed="rId2"/>
          <a:srcRect l="0" t="20666" r="0" b="23526"/>
          <a:stretch/>
        </p:blipFill>
        <p:spPr>
          <a:xfrm>
            <a:off x="0" y="360"/>
            <a:ext cx="14630400" cy="485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"/>
          <p:cNvSpPr/>
          <p:nvPr/>
        </p:nvSpPr>
        <p:spPr>
          <a:xfrm>
            <a:off x="12780000" y="10260000"/>
            <a:ext cx="1850400" cy="7128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6040" cy="1097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Shape 0"/>
          <p:cNvSpPr/>
          <p:nvPr/>
        </p:nvSpPr>
        <p:spPr>
          <a:xfrm>
            <a:off x="0" y="0"/>
            <a:ext cx="5486040" cy="10972440"/>
          </a:xfrm>
          <a:prstGeom prst="rect">
            <a:avLst/>
          </a:prstGeom>
          <a:solidFill>
            <a:srgbClr val="DFDF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5486040" cy="1097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 1"/>
          <p:cNvSpPr/>
          <p:nvPr/>
        </p:nvSpPr>
        <p:spPr>
          <a:xfrm>
            <a:off x="6280200" y="2102760"/>
            <a:ext cx="7556040" cy="14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5550"/>
              </a:lnSpc>
              <a:tabLst>
                <a:tab pos="0" algn="l"/>
              </a:tabLst>
            </a:pPr>
            <a:r>
              <a:rPr lang="en-US" sz="4450" b="0" u="none" strike="noStrike">
                <a:solidFill>
                  <a:srgbClr val="272D45"/>
                </a:solidFill>
                <a:effectLst/>
                <a:uFillTx/>
                <a:latin typeface="Kanit Light"/>
                <a:ea typeface="Kanit Light"/>
              </a:rPr>
              <a:t>Тарутинский манёвр и контрнаступление</a:t>
            </a:r>
            <a:endParaRPr lang="ru-RU" sz="4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4" name="Image 2" descr="preencoded.png"/>
          <p:cNvPicPr/>
          <p:nvPr/>
        </p:nvPicPr>
        <p:blipFill>
          <a:blip r:embed="rId3"/>
          <a:stretch/>
        </p:blipFill>
        <p:spPr>
          <a:xfrm>
            <a:off x="6280200" y="3860640"/>
            <a:ext cx="1133640" cy="166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ext 2"/>
          <p:cNvSpPr/>
          <p:nvPr/>
        </p:nvSpPr>
        <p:spPr>
          <a:xfrm>
            <a:off x="7641000" y="408744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2C3249"/>
                </a:solidFill>
                <a:effectLst/>
                <a:uFillTx/>
                <a:latin typeface="Kanit Light"/>
                <a:ea typeface="Kanit Light"/>
              </a:rPr>
              <a:t>Тарутинский марш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3"/>
          <p:cNvSpPr/>
          <p:nvPr/>
        </p:nvSpPr>
        <p:spPr>
          <a:xfrm>
            <a:off x="7641000" y="4577760"/>
            <a:ext cx="619524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2C3249"/>
                </a:solidFill>
                <a:effectLst/>
                <a:uFillTx/>
                <a:latin typeface="Martel Sans"/>
                <a:ea typeface="Martel Sans"/>
              </a:rPr>
              <a:t>Кутузов закрыл путь к богатым южным губерниям и военным заводам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7" name="Image 3" descr="preencoded.png"/>
          <p:cNvPicPr/>
          <p:nvPr/>
        </p:nvPicPr>
        <p:blipFill>
          <a:blip r:embed="rId4"/>
          <a:stretch/>
        </p:blipFill>
        <p:spPr>
          <a:xfrm>
            <a:off x="6280200" y="5530320"/>
            <a:ext cx="1133640" cy="166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 4"/>
          <p:cNvSpPr/>
          <p:nvPr/>
        </p:nvSpPr>
        <p:spPr>
          <a:xfrm>
            <a:off x="7641000" y="575712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2C3249"/>
                </a:solidFill>
                <a:effectLst/>
                <a:uFillTx/>
                <a:latin typeface="Kanit Light"/>
                <a:ea typeface="Kanit Light"/>
              </a:rPr>
              <a:t>Малоярославец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5"/>
          <p:cNvSpPr/>
          <p:nvPr/>
        </p:nvSpPr>
        <p:spPr>
          <a:xfrm>
            <a:off x="7641000" y="6247440"/>
            <a:ext cx="619524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2C3249"/>
                </a:solidFill>
                <a:effectLst/>
                <a:uFillTx/>
                <a:latin typeface="Martel Sans"/>
                <a:ea typeface="Martel Sans"/>
              </a:rPr>
              <a:t>Ожесточённый бой вынудил Наполеона отступать по разорённой Смоленской дороге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0" name="Image 4" descr="preencoded.png"/>
          <p:cNvPicPr/>
          <p:nvPr/>
        </p:nvPicPr>
        <p:blipFill>
          <a:blip r:embed="rId5"/>
          <a:stretch/>
        </p:blipFill>
        <p:spPr>
          <a:xfrm>
            <a:off x="6280200" y="7200360"/>
            <a:ext cx="1133640" cy="166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Text 6"/>
          <p:cNvSpPr/>
          <p:nvPr/>
        </p:nvSpPr>
        <p:spPr>
          <a:xfrm>
            <a:off x="7641000" y="7427160"/>
            <a:ext cx="379692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2C3249"/>
                </a:solidFill>
                <a:effectLst/>
                <a:uFillTx/>
                <a:latin typeface="Kanit Light"/>
                <a:ea typeface="Kanit Light"/>
              </a:rPr>
              <a:t>Преследование и Березина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7"/>
          <p:cNvSpPr/>
          <p:nvPr/>
        </p:nvSpPr>
        <p:spPr>
          <a:xfrm>
            <a:off x="7641000" y="7917480"/>
            <a:ext cx="619524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2C3249"/>
                </a:solidFill>
                <a:effectLst/>
                <a:uFillTx/>
                <a:latin typeface="Martel Sans"/>
                <a:ea typeface="Martel Sans"/>
              </a:rPr>
              <a:t>Партизаны и регулярные части дезорганизовали тылы. Разгром на Березине — конец «Великой армии»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3" name=""/>
          <p:cNvPicPr/>
          <p:nvPr/>
        </p:nvPicPr>
        <p:blipFill>
          <a:blip r:embed="rId6"/>
          <a:srcRect l="48673" t="0" r="23870" b="0"/>
          <a:stretch/>
        </p:blipFill>
        <p:spPr>
          <a:xfrm>
            <a:off x="0" y="0"/>
            <a:ext cx="5485680" cy="10792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"/>
          <p:cNvSpPr/>
          <p:nvPr/>
        </p:nvSpPr>
        <p:spPr>
          <a:xfrm>
            <a:off x="12780000" y="10260000"/>
            <a:ext cx="1850400" cy="7128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/>
          <p:nvPr/>
        </p:nvSpPr>
        <p:spPr>
          <a:xfrm>
            <a:off x="817560" y="3684960"/>
            <a:ext cx="1058796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5550"/>
              </a:lnSpc>
              <a:tabLst>
                <a:tab pos="0" algn="l"/>
              </a:tabLst>
            </a:pPr>
            <a:r>
              <a:rPr lang="en-US" sz="4450" b="0" u="none" strike="noStrike">
                <a:solidFill>
                  <a:srgbClr val="272D45"/>
                </a:solidFill>
                <a:effectLst/>
                <a:uFillTx/>
                <a:latin typeface="Kanit Light"/>
                <a:ea typeface="Kanit Light"/>
              </a:rPr>
              <a:t>Итоги кампании: катастрофа Франции</a:t>
            </a:r>
            <a:endParaRPr lang="ru-RU" sz="4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817560" y="4960800"/>
            <a:ext cx="6379200" cy="74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>
              <a:lnSpc>
                <a:spcPts val="5851"/>
              </a:lnSpc>
              <a:tabLst>
                <a:tab pos="0" algn="l"/>
              </a:tabLst>
            </a:pPr>
            <a:r>
              <a:rPr lang="en-US" sz="5850" b="0" u="none" strike="noStrike">
                <a:solidFill>
                  <a:srgbClr val="2C3249"/>
                </a:solidFill>
                <a:effectLst/>
                <a:uFillTx/>
                <a:latin typeface="Kanit Light"/>
                <a:ea typeface="Kanit Light"/>
              </a:rPr>
              <a:t>600 тыс.</a:t>
            </a:r>
            <a:endParaRPr lang="ru-RU" sz="5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"/>
          <p:cNvSpPr/>
          <p:nvPr/>
        </p:nvSpPr>
        <p:spPr>
          <a:xfrm>
            <a:off x="2589840" y="599256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>
              <a:lnSpc>
                <a:spcPts val="275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2C3249"/>
                </a:solidFill>
                <a:effectLst/>
                <a:uFillTx/>
                <a:latin typeface="Kanit Light"/>
                <a:ea typeface="Kanit Light"/>
              </a:rPr>
              <a:t>Солдат вторжения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"/>
          <p:cNvSpPr/>
          <p:nvPr/>
        </p:nvSpPr>
        <p:spPr>
          <a:xfrm>
            <a:off x="817560" y="6482880"/>
            <a:ext cx="637920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2C3249"/>
                </a:solidFill>
                <a:effectLst/>
                <a:uFillTx/>
                <a:latin typeface="Martel Sans"/>
                <a:ea typeface="Martel Sans"/>
              </a:rPr>
              <a:t>Численность «Великой армии» при переходе через Неман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4"/>
          <p:cNvSpPr/>
          <p:nvPr/>
        </p:nvSpPr>
        <p:spPr>
          <a:xfrm>
            <a:off x="7480800" y="4960800"/>
            <a:ext cx="6379200" cy="74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>
              <a:lnSpc>
                <a:spcPts val="5851"/>
              </a:lnSpc>
              <a:tabLst>
                <a:tab pos="0" algn="l"/>
              </a:tabLst>
            </a:pPr>
            <a:r>
              <a:rPr lang="en-US" sz="5850" b="0" u="none" strike="noStrike">
                <a:solidFill>
                  <a:srgbClr val="2C3249"/>
                </a:solidFill>
                <a:effectLst/>
                <a:uFillTx/>
                <a:latin typeface="Kanit Light"/>
                <a:ea typeface="Kanit Light"/>
              </a:rPr>
              <a:t>40 тыс.</a:t>
            </a:r>
            <a:endParaRPr lang="ru-RU" sz="5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5"/>
          <p:cNvSpPr/>
          <p:nvPr/>
        </p:nvSpPr>
        <p:spPr>
          <a:xfrm>
            <a:off x="9252720" y="599256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>
              <a:lnSpc>
                <a:spcPts val="275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2C3249"/>
                </a:solidFill>
                <a:effectLst/>
                <a:uFillTx/>
                <a:latin typeface="Kanit Light"/>
                <a:ea typeface="Kanit Light"/>
              </a:rPr>
              <a:t>Вернулись назад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6"/>
          <p:cNvSpPr/>
          <p:nvPr/>
        </p:nvSpPr>
        <p:spPr>
          <a:xfrm>
            <a:off x="7480800" y="6482880"/>
            <a:ext cx="637920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2C3249"/>
                </a:solidFill>
                <a:effectLst/>
                <a:uFillTx/>
                <a:latin typeface="Martel Sans"/>
                <a:ea typeface="Martel Sans"/>
              </a:rPr>
              <a:t>Изнурённых солдат пересекло обратно западную границу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7"/>
          <p:cNvSpPr/>
          <p:nvPr/>
        </p:nvSpPr>
        <p:spPr>
          <a:xfrm>
            <a:off x="817560" y="7548840"/>
            <a:ext cx="401004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272D45"/>
                </a:solidFill>
                <a:effectLst/>
                <a:uFillTx/>
                <a:latin typeface="Kanit Light"/>
                <a:ea typeface="Kanit Light"/>
              </a:rPr>
              <a:t>Три причины победы России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8"/>
          <p:cNvSpPr/>
          <p:nvPr/>
        </p:nvSpPr>
        <p:spPr>
          <a:xfrm>
            <a:off x="817560" y="8243640"/>
            <a:ext cx="510120" cy="510120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9"/>
          <p:cNvSpPr/>
          <p:nvPr/>
        </p:nvSpPr>
        <p:spPr>
          <a:xfrm>
            <a:off x="902520" y="8286120"/>
            <a:ext cx="3398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>
              <a:lnSpc>
                <a:spcPts val="2650"/>
              </a:lnSpc>
              <a:tabLst>
                <a:tab pos="0" algn="l"/>
              </a:tabLst>
            </a:pPr>
            <a:r>
              <a:rPr lang="en-US" sz="2650" b="0" u="none" strike="noStrike">
                <a:solidFill>
                  <a:srgbClr val="2C3249"/>
                </a:solidFill>
                <a:effectLst/>
                <a:uFillTx/>
                <a:latin typeface="Kanit Light"/>
                <a:ea typeface="Kanit Light"/>
              </a:rPr>
              <a:t>1</a:t>
            </a:r>
            <a:endParaRPr lang="ru-RU" sz="2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0"/>
          <p:cNvSpPr/>
          <p:nvPr/>
        </p:nvSpPr>
        <p:spPr>
          <a:xfrm>
            <a:off x="1554840" y="8321400"/>
            <a:ext cx="30168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2C3249"/>
                </a:solidFill>
                <a:effectLst/>
                <a:uFillTx/>
                <a:latin typeface="Kanit Light"/>
                <a:ea typeface="Kanit Light"/>
              </a:rPr>
              <a:t>Моральная стойкость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1"/>
          <p:cNvSpPr/>
          <p:nvPr/>
        </p:nvSpPr>
        <p:spPr>
          <a:xfrm>
            <a:off x="1554840" y="8811720"/>
            <a:ext cx="342108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2C3249"/>
                </a:solidFill>
                <a:effectLst/>
                <a:uFillTx/>
                <a:latin typeface="Martel Sans"/>
                <a:ea typeface="Martel Sans"/>
              </a:rPr>
              <a:t>Невероятная воля армии и народа к сопротивлению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2"/>
          <p:cNvSpPr/>
          <p:nvPr/>
        </p:nvSpPr>
        <p:spPr>
          <a:xfrm>
            <a:off x="5259600" y="8243640"/>
            <a:ext cx="510120" cy="510120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3"/>
          <p:cNvSpPr/>
          <p:nvPr/>
        </p:nvSpPr>
        <p:spPr>
          <a:xfrm>
            <a:off x="5344560" y="8286120"/>
            <a:ext cx="3398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>
              <a:lnSpc>
                <a:spcPts val="2650"/>
              </a:lnSpc>
              <a:tabLst>
                <a:tab pos="0" algn="l"/>
              </a:tabLst>
            </a:pPr>
            <a:r>
              <a:rPr lang="en-US" sz="2650" b="0" u="none" strike="noStrike">
                <a:solidFill>
                  <a:srgbClr val="2C3249"/>
                </a:solidFill>
                <a:effectLst/>
                <a:uFillTx/>
                <a:latin typeface="Kanit Light"/>
                <a:ea typeface="Kanit Light"/>
              </a:rPr>
              <a:t>2</a:t>
            </a:r>
            <a:endParaRPr lang="ru-RU" sz="2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4"/>
          <p:cNvSpPr/>
          <p:nvPr/>
        </p:nvSpPr>
        <p:spPr>
          <a:xfrm>
            <a:off x="5996880" y="8321400"/>
            <a:ext cx="30088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2C3249"/>
                </a:solidFill>
                <a:effectLst/>
                <a:uFillTx/>
                <a:latin typeface="Kanit Light"/>
                <a:ea typeface="Kanit Light"/>
              </a:rPr>
              <a:t>Стратегия истощения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5"/>
          <p:cNvSpPr/>
          <p:nvPr/>
        </p:nvSpPr>
        <p:spPr>
          <a:xfrm>
            <a:off x="5996880" y="8811720"/>
            <a:ext cx="342108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2C3249"/>
                </a:solidFill>
                <a:effectLst/>
                <a:uFillTx/>
                <a:latin typeface="Martel Sans"/>
                <a:ea typeface="Martel Sans"/>
              </a:rPr>
              <a:t>Блестящее применение манёвренной обороны Кутузовым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6"/>
          <p:cNvSpPr/>
          <p:nvPr/>
        </p:nvSpPr>
        <p:spPr>
          <a:xfrm>
            <a:off x="9701640" y="8243640"/>
            <a:ext cx="510120" cy="510120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7"/>
          <p:cNvSpPr/>
          <p:nvPr/>
        </p:nvSpPr>
        <p:spPr>
          <a:xfrm>
            <a:off x="9786960" y="8286120"/>
            <a:ext cx="3398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>
              <a:lnSpc>
                <a:spcPts val="2650"/>
              </a:lnSpc>
              <a:tabLst>
                <a:tab pos="0" algn="l"/>
              </a:tabLst>
            </a:pPr>
            <a:r>
              <a:rPr lang="en-US" sz="2650" b="0" u="none" strike="noStrike">
                <a:solidFill>
                  <a:srgbClr val="2C3249"/>
                </a:solidFill>
                <a:effectLst/>
                <a:uFillTx/>
                <a:latin typeface="Kanit Light"/>
                <a:ea typeface="Kanit Light"/>
              </a:rPr>
              <a:t>3</a:t>
            </a:r>
            <a:endParaRPr lang="ru-RU" sz="2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8"/>
          <p:cNvSpPr/>
          <p:nvPr/>
        </p:nvSpPr>
        <p:spPr>
          <a:xfrm>
            <a:off x="10438920" y="832140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2C3249"/>
                </a:solidFill>
                <a:effectLst/>
                <a:uFillTx/>
                <a:latin typeface="Kanit Light"/>
                <a:ea typeface="Kanit Light"/>
              </a:rPr>
              <a:t>Народная война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9"/>
          <p:cNvSpPr/>
          <p:nvPr/>
        </p:nvSpPr>
        <p:spPr>
          <a:xfrm>
            <a:off x="10438920" y="8811720"/>
            <a:ext cx="342108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2C3249"/>
                </a:solidFill>
                <a:effectLst/>
                <a:uFillTx/>
                <a:latin typeface="Martel Sans"/>
                <a:ea typeface="Martel Sans"/>
              </a:rPr>
              <a:t>Партизаны довели логистику Наполеона до полного коллапса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5" name=""/>
          <p:cNvPicPr/>
          <p:nvPr/>
        </p:nvPicPr>
        <p:blipFill>
          <a:blip r:embed="rId1"/>
          <a:srcRect l="0" t="33553" r="0" b="17213"/>
          <a:stretch/>
        </p:blipFill>
        <p:spPr>
          <a:xfrm>
            <a:off x="0" y="-179640"/>
            <a:ext cx="14630040" cy="359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"/>
          <p:cNvSpPr/>
          <p:nvPr/>
        </p:nvSpPr>
        <p:spPr>
          <a:xfrm>
            <a:off x="12780000" y="10260000"/>
            <a:ext cx="1850400" cy="7128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6040" cy="1097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Shape 0"/>
          <p:cNvSpPr/>
          <p:nvPr/>
        </p:nvSpPr>
        <p:spPr>
          <a:xfrm>
            <a:off x="0" y="0"/>
            <a:ext cx="5486040" cy="10972440"/>
          </a:xfrm>
          <a:prstGeom prst="rect">
            <a:avLst/>
          </a:prstGeom>
          <a:solidFill>
            <a:srgbClr val="DFDF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9" name="Image 1" descr="preencoded.png"/>
          <p:cNvPicPr/>
          <p:nvPr/>
        </p:nvPicPr>
        <p:blipFill>
          <a:blip r:embed="rId2"/>
          <a:stretch/>
        </p:blipFill>
        <p:spPr>
          <a:xfrm>
            <a:off x="0" y="0"/>
            <a:ext cx="5486040" cy="1097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Text 1"/>
          <p:cNvSpPr/>
          <p:nvPr/>
        </p:nvSpPr>
        <p:spPr>
          <a:xfrm>
            <a:off x="6280200" y="1523160"/>
            <a:ext cx="7556040" cy="14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5550"/>
              </a:lnSpc>
              <a:tabLst>
                <a:tab pos="0" algn="l"/>
              </a:tabLst>
            </a:pPr>
            <a:r>
              <a:rPr lang="en-US" sz="4450" b="0" u="none" strike="noStrike">
                <a:solidFill>
                  <a:srgbClr val="272D45"/>
                </a:solidFill>
                <a:effectLst/>
                <a:uFillTx/>
                <a:latin typeface="Kanit Light"/>
                <a:ea typeface="Kanit Light"/>
              </a:rPr>
              <a:t>Историческое значение победы</a:t>
            </a:r>
            <a:endParaRPr lang="ru-RU" sz="4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2"/>
          <p:cNvSpPr/>
          <p:nvPr/>
        </p:nvSpPr>
        <p:spPr>
          <a:xfrm>
            <a:off x="6280200" y="3281040"/>
            <a:ext cx="3664440" cy="2764800"/>
          </a:xfrm>
          <a:prstGeom prst="roundRect">
            <a:avLst>
              <a:gd name="adj" fmla="val 3445"/>
            </a:avLst>
          </a:prstGeom>
          <a:solidFill>
            <a:srgbClr val="DFECE9"/>
          </a:solidFill>
          <a:ln w="7620">
            <a:solidFill>
              <a:srgbClr val="C5D2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3"/>
          <p:cNvSpPr/>
          <p:nvPr/>
        </p:nvSpPr>
        <p:spPr>
          <a:xfrm>
            <a:off x="6514560" y="351540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2C3249"/>
                </a:solidFill>
                <a:effectLst/>
                <a:uFillTx/>
                <a:latin typeface="Kanit Light"/>
                <a:ea typeface="Kanit Light"/>
              </a:rPr>
              <a:t>Геополитика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4"/>
          <p:cNvSpPr/>
          <p:nvPr/>
        </p:nvSpPr>
        <p:spPr>
          <a:xfrm>
            <a:off x="6514560" y="4005720"/>
            <a:ext cx="3195360" cy="14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2C3249"/>
                </a:solidFill>
                <a:effectLst/>
                <a:uFillTx/>
                <a:latin typeface="Martel Sans"/>
                <a:ea typeface="Martel Sans"/>
              </a:rPr>
              <a:t>Разрушены амбиции Франции на мировую гегемонию. Россия стала ведущей державой Европы.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5"/>
          <p:cNvSpPr/>
          <p:nvPr/>
        </p:nvSpPr>
        <p:spPr>
          <a:xfrm>
            <a:off x="10171800" y="3281040"/>
            <a:ext cx="3664440" cy="2764800"/>
          </a:xfrm>
          <a:prstGeom prst="roundRect">
            <a:avLst>
              <a:gd name="adj" fmla="val 3445"/>
            </a:avLst>
          </a:prstGeom>
          <a:solidFill>
            <a:srgbClr val="DFECE9"/>
          </a:solidFill>
          <a:ln w="7620">
            <a:solidFill>
              <a:srgbClr val="C5D2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6"/>
          <p:cNvSpPr/>
          <p:nvPr/>
        </p:nvSpPr>
        <p:spPr>
          <a:xfrm>
            <a:off x="10406160" y="3515400"/>
            <a:ext cx="319572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2C3249"/>
                </a:solidFill>
                <a:effectLst/>
                <a:uFillTx/>
                <a:latin typeface="Kanit Light"/>
                <a:ea typeface="Kanit Light"/>
              </a:rPr>
              <a:t>Национальное единство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7"/>
          <p:cNvSpPr/>
          <p:nvPr/>
        </p:nvSpPr>
        <p:spPr>
          <a:xfrm>
            <a:off x="10406160" y="4360320"/>
            <a:ext cx="3195720" cy="14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2C3249"/>
                </a:solidFill>
                <a:effectLst/>
                <a:uFillTx/>
                <a:latin typeface="Martel Sans"/>
                <a:ea typeface="Martel Sans"/>
              </a:rPr>
              <a:t>Война объединила все сословия, дав мощный толчок формированию русской нации и культуры.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8"/>
          <p:cNvSpPr/>
          <p:nvPr/>
        </p:nvSpPr>
        <p:spPr>
          <a:xfrm>
            <a:off x="6280200" y="6273000"/>
            <a:ext cx="7556040" cy="1684800"/>
          </a:xfrm>
          <a:prstGeom prst="roundRect">
            <a:avLst>
              <a:gd name="adj" fmla="val 5654"/>
            </a:avLst>
          </a:prstGeom>
          <a:solidFill>
            <a:srgbClr val="DFECE9"/>
          </a:solidFill>
          <a:ln w="7620">
            <a:solidFill>
              <a:srgbClr val="C5D2C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9"/>
          <p:cNvSpPr/>
          <p:nvPr/>
        </p:nvSpPr>
        <p:spPr>
          <a:xfrm>
            <a:off x="6514560" y="650736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2C3249"/>
                </a:solidFill>
                <a:effectLst/>
                <a:uFillTx/>
                <a:latin typeface="Kanit Light"/>
                <a:ea typeface="Kanit Light"/>
              </a:rPr>
              <a:t>Военная наука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0"/>
          <p:cNvSpPr/>
          <p:nvPr/>
        </p:nvSpPr>
        <p:spPr>
          <a:xfrm>
            <a:off x="6514560" y="6998040"/>
            <a:ext cx="708732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2C3249"/>
                </a:solidFill>
                <a:effectLst/>
                <a:uFillTx/>
                <a:latin typeface="Martel Sans"/>
                <a:ea typeface="Martel Sans"/>
              </a:rPr>
              <a:t>Доказана эффективность маневренной стратегии и тотальной обороны как системы победы.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1"/>
          <p:cNvSpPr/>
          <p:nvPr/>
        </p:nvSpPr>
        <p:spPr>
          <a:xfrm>
            <a:off x="6620400" y="8468280"/>
            <a:ext cx="721584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2C3249"/>
                </a:solidFill>
                <a:effectLst/>
                <a:uFillTx/>
                <a:latin typeface="Martel Sans"/>
                <a:ea typeface="Martel Sans"/>
              </a:rPr>
              <a:t>Это была победа не просто оружия — а </a:t>
            </a:r>
            <a:r>
              <a:rPr lang="en-US" sz="1750" b="1" u="none" strike="noStrike">
                <a:solidFill>
                  <a:srgbClr val="2C3249"/>
                </a:solidFill>
                <a:effectLst/>
                <a:uFillTx/>
                <a:latin typeface="Martel Sans"/>
                <a:ea typeface="Martel Sans"/>
              </a:rPr>
              <a:t>национальной воли и блестящего стратегического интеллекта</a:t>
            </a:r>
            <a:r>
              <a:rPr lang="en-US" sz="1750" b="0" u="none" strike="noStrike">
                <a:solidFill>
                  <a:srgbClr val="2C3249"/>
                </a:solidFill>
                <a:effectLst/>
                <a:uFillTx/>
                <a:latin typeface="Martel Sans"/>
                <a:ea typeface="Martel Sans"/>
              </a:rPr>
              <a:t>.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2"/>
          <p:cNvSpPr/>
          <p:nvPr/>
        </p:nvSpPr>
        <p:spPr>
          <a:xfrm>
            <a:off x="6280200" y="8213400"/>
            <a:ext cx="30240" cy="1235880"/>
          </a:xfrm>
          <a:prstGeom prst="rect">
            <a:avLst/>
          </a:prstGeom>
          <a:solidFill>
            <a:srgbClr val="4370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2" name=""/>
          <p:cNvPicPr/>
          <p:nvPr/>
        </p:nvPicPr>
        <p:blipFill>
          <a:blip r:embed="rId3"/>
          <a:srcRect l="15450" t="0" r="56840" b="0"/>
          <a:stretch/>
        </p:blipFill>
        <p:spPr>
          <a:xfrm>
            <a:off x="0" y="-27360"/>
            <a:ext cx="5485680" cy="110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"/>
          <p:cNvSpPr/>
          <p:nvPr/>
        </p:nvSpPr>
        <p:spPr>
          <a:xfrm>
            <a:off x="12780000" y="10260000"/>
            <a:ext cx="1850400" cy="7128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LibreOffice/26.2.2.2$Linux_X86_64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2026-04-21T17:44:53Z</dcterms:created>
  <dc:creator/>
  <dc:description/>
  <dc:language>ru-RU</dc:language>
  <cp:lastModifiedBy/>
  <dcterms:modified xsi:type="dcterms:W3CDTF">2026-04-21T23:59:48Z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
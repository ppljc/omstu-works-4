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8.xml" ContentType="application/vnd.openxmlformats-officedocument.theme+xml"/>
  <Override PartName="/ppt/theme/theme5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  <p:sldMasterId id="2147483649" r:id="rId3"/>
    <p:sldMasterId id="2147483651" r:id="rId4"/>
    <p:sldMasterId id="2147483653" r:id="rId5"/>
    <p:sldMasterId id="2147483655" r:id="rId6"/>
    <p:sldMasterId id="2147483657" r:id="rId7"/>
    <p:sldMasterId id="2147483659" r:id="rId8"/>
    <p:sldMasterId id="2147483661" r:id="rId9"/>
    <p:sldMasterId id="2147483663" r:id="rId10"/>
    <p:sldMasterId id="2147483665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</p:sldIdLst>
  <p:sldSz cx="14630400" cy="8229600"/>
  <p:notesSz cx="7559675" cy="10691813"/>
  <p:embeddedFontLst>
    <p:embeddedFont>
      <p:font typeface="Calibri Light"/>
    </p:embeddedFont>
    <p:embeddedFont>
      <p:font typeface="DM Sans Semi Bold"/>
      <p:regular r:id="rId22"/>
      <p:bold r:id="rId23"/>
      <p:italic r:id="rId24"/>
      <p:boldItalic r:id="rId25"/>
    </p:embeddedFont>
    <p:embeddedFont>
      <p:font typeface="Noto Sans"/>
      <p:regular r:id="rId26"/>
      <p:bold r:id="rId27"/>
      <p:italic r:id="rId28"/>
      <p:boldItalic r:id="rId29"/>
    </p:embeddedFont>
    <p:embeddedFont>
      <p:font typeface="Inter Medium"/>
      <p:regular r:id="rId30"/>
      <p:bold r:id="rId31"/>
      <p:boldItalic r:id="rId32"/>
    </p:embeddedFont>
    <p:embeddedFont>
      <p:font typeface="Noto Sans Devanagari"/>
      <p:regular r:id="rId33"/>
      <p:bold r:id="rId34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font" Target="fonts/Font_1_DM_Sans_Semi_Bold_Regular.fntdata"/><Relationship Id="rId23" Type="http://schemas.openxmlformats.org/officeDocument/2006/relationships/font" Target="fonts/Font_2_DM_Sans_Semi_Bold_Bold.fntdata"/><Relationship Id="rId24" Type="http://schemas.openxmlformats.org/officeDocument/2006/relationships/font" Target="fonts/Font_3_DM_Sans_Semi_Bold_Italic.fntdata"/><Relationship Id="rId25" Type="http://schemas.openxmlformats.org/officeDocument/2006/relationships/font" Target="fonts/Font_4_DM_Sans_Semi_Bold_BoldItalic.fntdata"/><Relationship Id="rId26" Type="http://schemas.openxmlformats.org/officeDocument/2006/relationships/font" Target="fonts/Font_5_Noto_Sans_Regular.fntdata"/><Relationship Id="rId27" Type="http://schemas.openxmlformats.org/officeDocument/2006/relationships/font" Target="fonts/Font_6_Noto_Sans_Bold.fntdata"/><Relationship Id="rId28" Type="http://schemas.openxmlformats.org/officeDocument/2006/relationships/font" Target="fonts/Font_7_Noto_Sans_Italic.fntdata"/><Relationship Id="rId29" Type="http://schemas.openxmlformats.org/officeDocument/2006/relationships/font" Target="fonts/Font_8_Noto_Sans_BoldItalic.fntdata"/><Relationship Id="rId30" Type="http://schemas.openxmlformats.org/officeDocument/2006/relationships/font" Target="fonts/Font_9_Inter_Medium_Regular.fntdata"/><Relationship Id="rId31" Type="http://schemas.openxmlformats.org/officeDocument/2006/relationships/font" Target="fonts/Font_10_Inter_Medium_Bold.fntdata"/><Relationship Id="rId32" Type="http://schemas.openxmlformats.org/officeDocument/2006/relationships/font" Target="fonts/Font_11_Inter_Medium_BoldItalic.fntdata"/><Relationship Id="rId33" Type="http://schemas.openxmlformats.org/officeDocument/2006/relationships/font" Target="fonts/Font_12_Noto_Sans_Devanagari_Regular.fntdata"/><Relationship Id="rId34" Type="http://schemas.openxmlformats.org/officeDocument/2006/relationships/font" Target="fonts/Font_13_Noto_Sans_Devanagari_Bold.fntdata"/><Relationship Id="rId3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перемещения страницы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Для правки формата примечаний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&lt;верхний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&lt;дата/время&gt;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D8525BD-BD8B-4DAC-856C-FED5514C68F9}" type="slidenum"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19D27DF-10A0-452C-87D2-12279D5281CA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C9390B-DCD3-4BE7-8D2B-62120DCFF7B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ED20501-1C84-4450-89B9-E5A063AC530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3B59A9-6EA9-4F4E-906F-70FB57D33FF0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F51A1A2-2083-4BCE-86BA-42A534C03FA1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37A89F5-1C44-48A0-ACA9-0F4697542728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5B48FC-D6A1-45E8-B5F9-75E07073CA1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4FB9F00-F797-49B3-9603-9D7E910FF713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5665F63-8C73-451D-AEF1-1F0209B921B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ru-RU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4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7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8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4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4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5F5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"/>
          <p:cNvSpPr/>
          <p:nvPr/>
        </p:nvSpPr>
        <p:spPr>
          <a:xfrm>
            <a:off x="0" y="0"/>
            <a:ext cx="14630040" cy="82292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" name="Image 0" descr="preencoded.png">
            <a:hlinkClick r:id="rId2"/>
          </p:cNvPr>
          <p:cNvPicPr/>
          <p:nvPr/>
        </p:nvPicPr>
        <p:blipFill>
          <a:blip r:embed="rId3"/>
          <a:stretch/>
        </p:blipFill>
        <p:spPr>
          <a:xfrm>
            <a:off x="12839040" y="7749720"/>
            <a:ext cx="1722240" cy="411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731520" y="328320"/>
            <a:ext cx="13167000" cy="1373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Для правки текста заглавия щёлкните мышью</a:t>
            </a:r>
            <a:endParaRPr lang="ru-RU" sz="4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31520" y="1925640"/>
            <a:ext cx="13167000" cy="477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  <a:def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Для правки структуры щёлкните мышью</a:t>
            </a:r>
            <a:endParaRPr lang="ru-RU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Второй уровень структуры</a:t>
            </a:r>
            <a:endParaRPr lang="ru-RU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Третий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Четвёртый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Пятый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Шестой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Седьмой уровень структуры</a:t>
            </a:r>
            <a:endParaRPr lang="ru-RU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724680" y="6120000"/>
            <a:ext cx="3955320" cy="720000"/>
          </a:xfrm>
          <a:prstGeom prst="roundRect">
            <a:avLst>
              <a:gd name="adj" fmla="val 6386"/>
            </a:avLst>
          </a:prstGeom>
          <a:solidFill>
            <a:srgbClr val="D4F7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860760" y="6188040"/>
            <a:ext cx="2423160" cy="2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25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Подготовил студент группы ИВТ-244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ts val="225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Шмидт Антон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793800" y="3043440"/>
            <a:ext cx="13042440" cy="195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7699"/>
              </a:lnSpc>
              <a:tabLst>
                <a:tab pos="0" algn="l"/>
              </a:tabLst>
            </a:pPr>
            <a:r>
              <a:rPr lang="en-US" sz="61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Потери СССР в годы Великой Отечественной войны</a:t>
            </a:r>
            <a:endParaRPr lang="ru-RU" sz="6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"/>
          <p:cNvSpPr/>
          <p:nvPr/>
        </p:nvSpPr>
        <p:spPr>
          <a:xfrm>
            <a:off x="793800" y="5340240"/>
            <a:ext cx="13042440" cy="36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Современные оценки масштабов трагедии 1941–1945 годов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 0"/>
          <p:cNvSpPr/>
          <p:nvPr/>
        </p:nvSpPr>
        <p:spPr>
          <a:xfrm>
            <a:off x="793800" y="156744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Введение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630360" y="2616480"/>
            <a:ext cx="6571080" cy="2463120"/>
          </a:xfrm>
          <a:prstGeom prst="roundRect">
            <a:avLst>
              <a:gd name="adj" fmla="val 1381"/>
            </a:avLst>
          </a:prstGeom>
          <a:solidFill>
            <a:srgbClr val="1C97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857160" y="28432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Актуальность темы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857160" y="3424320"/>
            <a:ext cx="611748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Сохранение исторической памяти и противодействие фальсификации истории. Акцент современной науки — комплексный демографический анализ, а не простые арифметические подсчёты.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7599600" y="28432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Цель работы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7599600" y="3424320"/>
            <a:ext cx="624420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Системный анализ современных оценок людских потерь СССР, эволюция официальных данных и ключевые категории жертв — на основе исследований МО РФ и Российской академии наук.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793800" y="5335200"/>
            <a:ext cx="13042440" cy="1326240"/>
          </a:xfrm>
          <a:prstGeom prst="roundRect">
            <a:avLst>
              <a:gd name="adj" fmla="val 2565"/>
            </a:avLst>
          </a:prstGeom>
          <a:solidFill>
            <a:srgbClr val="BEF3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0" descr="preencoded.png"/>
          <p:cNvPicPr/>
          <p:nvPr/>
        </p:nvPicPr>
        <p:blipFill>
          <a:blip r:embed="rId1"/>
          <a:stretch/>
        </p:blipFill>
        <p:spPr>
          <a:xfrm>
            <a:off x="1020600" y="5679360"/>
            <a:ext cx="282960" cy="226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7"/>
          <p:cNvSpPr/>
          <p:nvPr/>
        </p:nvSpPr>
        <p:spPr>
          <a:xfrm>
            <a:off x="1531080" y="5618880"/>
            <a:ext cx="120783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Вопрос о цене Победы на протяжении десятилетий оставался предметом идеологических дискуссий, а официальные данные неоднократно пересматривались.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 0"/>
          <p:cNvSpPr/>
          <p:nvPr/>
        </p:nvSpPr>
        <p:spPr>
          <a:xfrm>
            <a:off x="793800" y="703080"/>
            <a:ext cx="13042440" cy="127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Эволюция официальных данных: от Сталина до современности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"/>
          <p:cNvSpPr/>
          <p:nvPr/>
        </p:nvSpPr>
        <p:spPr>
          <a:xfrm>
            <a:off x="793800" y="4522680"/>
            <a:ext cx="13042440" cy="2268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28800" rIns="90000" bIns="-288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"/>
          <p:cNvSpPr/>
          <p:nvPr/>
        </p:nvSpPr>
        <p:spPr>
          <a:xfrm>
            <a:off x="3985560" y="3910680"/>
            <a:ext cx="22680" cy="61200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3"/>
          <p:cNvSpPr/>
          <p:nvPr/>
        </p:nvSpPr>
        <p:spPr>
          <a:xfrm>
            <a:off x="3767400" y="4293360"/>
            <a:ext cx="459000" cy="45900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4"/>
          <p:cNvSpPr/>
          <p:nvPr/>
        </p:nvSpPr>
        <p:spPr>
          <a:xfrm>
            <a:off x="3843720" y="4367520"/>
            <a:ext cx="3056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40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1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5"/>
          <p:cNvSpPr/>
          <p:nvPr/>
        </p:nvSpPr>
        <p:spPr>
          <a:xfrm>
            <a:off x="2721240" y="2346480"/>
            <a:ext cx="25513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1946 — Сталин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6"/>
          <p:cNvSpPr/>
          <p:nvPr/>
        </p:nvSpPr>
        <p:spPr>
          <a:xfrm>
            <a:off x="997920" y="2775600"/>
            <a:ext cx="5997960" cy="9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4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7 млн человек</a:t>
            </a: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— политически мотивированная цифра. Скрывала масштаб трагедии, создавала иллюзию сопоставимости потерь с Германией.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Shape 7"/>
          <p:cNvSpPr/>
          <p:nvPr/>
        </p:nvSpPr>
        <p:spPr>
          <a:xfrm>
            <a:off x="7303680" y="4522680"/>
            <a:ext cx="22680" cy="61200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8"/>
          <p:cNvSpPr/>
          <p:nvPr/>
        </p:nvSpPr>
        <p:spPr>
          <a:xfrm>
            <a:off x="7085520" y="4293360"/>
            <a:ext cx="459000" cy="45900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9"/>
          <p:cNvSpPr/>
          <p:nvPr/>
        </p:nvSpPr>
        <p:spPr>
          <a:xfrm>
            <a:off x="7161840" y="4367520"/>
            <a:ext cx="3056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40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2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0"/>
          <p:cNvSpPr/>
          <p:nvPr/>
        </p:nvSpPr>
        <p:spPr>
          <a:xfrm>
            <a:off x="5239080" y="5339520"/>
            <a:ext cx="4151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1961–1970-е — Хрущёв / Брежнев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1"/>
          <p:cNvSpPr/>
          <p:nvPr/>
        </p:nvSpPr>
        <p:spPr>
          <a:xfrm>
            <a:off x="4316040" y="5768280"/>
            <a:ext cx="5997960" cy="9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4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20 млн человек</a:t>
            </a: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— официальный канон эпохи. Признание колоссальной цены Победы в рамках политики десталинизации.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2"/>
          <p:cNvSpPr/>
          <p:nvPr/>
        </p:nvSpPr>
        <p:spPr>
          <a:xfrm>
            <a:off x="10621800" y="3910680"/>
            <a:ext cx="22680" cy="612000"/>
          </a:xfrm>
          <a:prstGeom prst="roundRect">
            <a:avLst>
              <a:gd name="adj" fmla="val 133954"/>
            </a:avLst>
          </a:prstGeom>
          <a:solidFill>
            <a:srgbClr val="D8D4D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3"/>
          <p:cNvSpPr/>
          <p:nvPr/>
        </p:nvSpPr>
        <p:spPr>
          <a:xfrm>
            <a:off x="10403640" y="4293360"/>
            <a:ext cx="459000" cy="459000"/>
          </a:xfrm>
          <a:prstGeom prst="roundRect">
            <a:avLst>
              <a:gd name="adj" fmla="val 6668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4"/>
          <p:cNvSpPr/>
          <p:nvPr/>
        </p:nvSpPr>
        <p:spPr>
          <a:xfrm>
            <a:off x="10479960" y="4367520"/>
            <a:ext cx="305640" cy="3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401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3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15"/>
          <p:cNvSpPr/>
          <p:nvPr/>
        </p:nvSpPr>
        <p:spPr>
          <a:xfrm>
            <a:off x="8739360" y="2346480"/>
            <a:ext cx="3787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5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1990 — Комиссия Кривошеева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6"/>
          <p:cNvSpPr/>
          <p:nvPr/>
        </p:nvSpPr>
        <p:spPr>
          <a:xfrm>
            <a:off x="7634160" y="2775600"/>
            <a:ext cx="5997960" cy="93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401"/>
              </a:lnSpc>
              <a:tabLst>
                <a:tab pos="0" algn="l"/>
              </a:tabLst>
            </a:pPr>
            <a:r>
              <a:rPr lang="en-US" sz="160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26,6 млн человек</a:t>
            </a: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— результат работы с архивами Генштаба и метода демографического баланса. Наиболее обоснованная научная оценка.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7"/>
          <p:cNvSpPr/>
          <p:nvPr/>
        </p:nvSpPr>
        <p:spPr>
          <a:xfrm>
            <a:off x="793800" y="6905880"/>
            <a:ext cx="130424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401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Оценки в 41–42 млн, встречающиеся в публицистике, серьёзным историческим сообществом не принимаются — данные комиссии Кривошеева считаются наиболее фундаментальными и математически выверенными.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/>
          <p:nvPr/>
        </p:nvSpPr>
        <p:spPr>
          <a:xfrm>
            <a:off x="612000" y="480960"/>
            <a:ext cx="10010520" cy="54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43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Методология подсчёта: два ключевых подхода</a:t>
            </a:r>
            <a:endParaRPr lang="ru-RU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0" name="Image 0" descr="preencoded.png"/>
          <p:cNvPicPr/>
          <p:nvPr/>
        </p:nvPicPr>
        <p:blipFill>
          <a:blip r:embed="rId1"/>
          <a:stretch/>
        </p:blipFill>
        <p:spPr>
          <a:xfrm>
            <a:off x="612000" y="1381320"/>
            <a:ext cx="6489360" cy="6489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Image 1" descr="preencoded.png"/>
          <p:cNvPicPr/>
          <p:nvPr/>
        </p:nvPicPr>
        <p:blipFill>
          <a:blip r:embed="rId2"/>
          <a:stretch/>
        </p:blipFill>
        <p:spPr>
          <a:xfrm>
            <a:off x="612000" y="1381320"/>
            <a:ext cx="6489360" cy="6489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"/>
          <p:cNvSpPr/>
          <p:nvPr/>
        </p:nvSpPr>
        <p:spPr>
          <a:xfrm>
            <a:off x="7536240" y="3271680"/>
            <a:ext cx="21859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Балансовый метод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"/>
          <p:cNvSpPr/>
          <p:nvPr/>
        </p:nvSpPr>
        <p:spPr>
          <a:xfrm>
            <a:off x="7536240" y="3679560"/>
            <a:ext cx="648936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95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Сопоставление численности населения на начало и конец войны с учётом рождаемости и естественной смертности. Даёт </a:t>
            </a:r>
            <a:r>
              <a:rPr lang="en-US" sz="135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общую рамку трагедии</a:t>
            </a:r>
            <a:r>
              <a:rPr lang="en-US" sz="13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— итог 26,6 млн.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"/>
          <p:cNvSpPr/>
          <p:nvPr/>
        </p:nvSpPr>
        <p:spPr>
          <a:xfrm>
            <a:off x="7536240" y="4662000"/>
            <a:ext cx="6489360" cy="29160"/>
          </a:xfrm>
          <a:prstGeom prst="rect">
            <a:avLst/>
          </a:prstGeom>
          <a:solidFill>
            <a:srgbClr val="46464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15480" rIns="90000" bIns="-1548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4"/>
          <p:cNvSpPr/>
          <p:nvPr/>
        </p:nvSpPr>
        <p:spPr>
          <a:xfrm>
            <a:off x="7536240" y="4843080"/>
            <a:ext cx="21859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149"/>
              </a:lnSpc>
              <a:tabLst>
                <a:tab pos="0" algn="l"/>
              </a:tabLst>
            </a:pPr>
            <a:r>
              <a:rPr lang="en-US" sz="17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Поимённые списки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5"/>
          <p:cNvSpPr/>
          <p:nvPr/>
        </p:nvSpPr>
        <p:spPr>
          <a:xfrm>
            <a:off x="7536240" y="5250960"/>
            <a:ext cx="6489360" cy="74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195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Работа с архивными документами: донесения частей, ведомости госпиталей, «Книги Памяти». Часто даёт заниженные результаты из-за утраты документов 1941–1942 гг., но </a:t>
            </a:r>
            <a:r>
              <a:rPr lang="en-US" sz="135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персонифицирует историю</a:t>
            </a:r>
            <a:r>
              <a:rPr lang="en-US" sz="13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.</a:t>
            </a:r>
            <a:endParaRPr lang="ru-RU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793800" y="968040"/>
            <a:ext cx="13042440" cy="141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Безвозвратные потери Вооружённых Сил СССР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793800" y="2952360"/>
            <a:ext cx="304776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5851"/>
              </a:lnSpc>
              <a:tabLst>
                <a:tab pos="0" algn="l"/>
              </a:tabLst>
            </a:pPr>
            <a:r>
              <a:rPr lang="en-US" sz="585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8,67М</a:t>
            </a:r>
            <a:endParaRPr lang="ru-RU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"/>
          <p:cNvSpPr/>
          <p:nvPr/>
        </p:nvSpPr>
        <p:spPr>
          <a:xfrm>
            <a:off x="900000" y="39844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Всего погибших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"/>
          <p:cNvSpPr/>
          <p:nvPr/>
        </p:nvSpPr>
        <p:spPr>
          <a:xfrm>
            <a:off x="793800" y="4474800"/>
            <a:ext cx="30477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Общие безвозвратные потери личного состава ВС СССР, включая погранвойска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4"/>
          <p:cNvSpPr/>
          <p:nvPr/>
        </p:nvSpPr>
        <p:spPr>
          <a:xfrm>
            <a:off x="4125240" y="2952360"/>
            <a:ext cx="304776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5851"/>
              </a:lnSpc>
              <a:tabLst>
                <a:tab pos="0" algn="l"/>
              </a:tabLst>
            </a:pPr>
            <a:r>
              <a:rPr lang="en-US" sz="585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6,8М</a:t>
            </a:r>
            <a:endParaRPr lang="ru-RU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5"/>
          <p:cNvSpPr/>
          <p:nvPr/>
        </p:nvSpPr>
        <p:spPr>
          <a:xfrm>
            <a:off x="4231800" y="398448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Боевые потери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6"/>
          <p:cNvSpPr/>
          <p:nvPr/>
        </p:nvSpPr>
        <p:spPr>
          <a:xfrm>
            <a:off x="4125240" y="4474800"/>
            <a:ext cx="304776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Убитые в бою, умершие от ран, болезней и по приговорам трибуналов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7"/>
          <p:cNvSpPr/>
          <p:nvPr/>
        </p:nvSpPr>
        <p:spPr>
          <a:xfrm>
            <a:off x="7457040" y="2952360"/>
            <a:ext cx="304776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5851"/>
              </a:lnSpc>
              <a:tabLst>
                <a:tab pos="0" algn="l"/>
              </a:tabLst>
            </a:pPr>
            <a:r>
              <a:rPr lang="en-US" sz="585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4,56М</a:t>
            </a:r>
            <a:endParaRPr lang="ru-RU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8"/>
          <p:cNvSpPr/>
          <p:nvPr/>
        </p:nvSpPr>
        <p:spPr>
          <a:xfrm>
            <a:off x="7457040" y="3984480"/>
            <a:ext cx="30477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Пропавшие / пленные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9"/>
          <p:cNvSpPr/>
          <p:nvPr/>
        </p:nvSpPr>
        <p:spPr>
          <a:xfrm>
            <a:off x="7457040" y="4829040"/>
            <a:ext cx="304776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Из них ~1,8 млн вернулись из плена после войны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0"/>
          <p:cNvSpPr/>
          <p:nvPr/>
        </p:nvSpPr>
        <p:spPr>
          <a:xfrm>
            <a:off x="10788480" y="2952360"/>
            <a:ext cx="3047760" cy="74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5851"/>
              </a:lnSpc>
              <a:tabLst>
                <a:tab pos="0" algn="l"/>
              </a:tabLst>
            </a:pPr>
            <a:r>
              <a:rPr lang="en-US" sz="585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2,5М+</a:t>
            </a:r>
            <a:endParaRPr lang="ru-RU" sz="5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1"/>
          <p:cNvSpPr/>
          <p:nvPr/>
        </p:nvSpPr>
        <p:spPr>
          <a:xfrm>
            <a:off x="10788480" y="3984480"/>
            <a:ext cx="30477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Не вернулись из плена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2"/>
          <p:cNvSpPr/>
          <p:nvPr/>
        </p:nvSpPr>
        <p:spPr>
          <a:xfrm>
            <a:off x="10788480" y="4829040"/>
            <a:ext cx="30477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Погибли в нацистских лагерях — свидетельство крайней жестокости режима содержания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3"/>
          <p:cNvSpPr/>
          <p:nvPr/>
        </p:nvSpPr>
        <p:spPr>
          <a:xfrm>
            <a:off x="793800" y="6535800"/>
            <a:ext cx="130424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Данные группы Кривошеева опираются на строго документальный учёт. Дискуссии о полноте учёта в первые месяцы 1941 года продолжаются в научной среде.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793800" y="963720"/>
            <a:ext cx="9567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Трагедия гражданского населения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793800" y="2126160"/>
            <a:ext cx="6407640" cy="2456280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60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2"/>
          <p:cNvSpPr/>
          <p:nvPr/>
        </p:nvSpPr>
        <p:spPr>
          <a:xfrm>
            <a:off x="763200" y="2126160"/>
            <a:ext cx="121680" cy="245628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3"/>
          <p:cNvSpPr/>
          <p:nvPr/>
        </p:nvSpPr>
        <p:spPr>
          <a:xfrm>
            <a:off x="1142640" y="2383200"/>
            <a:ext cx="42850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Преднамеренное истребление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4"/>
          <p:cNvSpPr/>
          <p:nvPr/>
        </p:nvSpPr>
        <p:spPr>
          <a:xfrm>
            <a:off x="1142640" y="2873520"/>
            <a:ext cx="580140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~7,4 млн человек</a:t>
            </a: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— массовые казни и карательные операции на оккупированных территориях. Официально квалифицируется как геноцид народов СССР.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5"/>
          <p:cNvSpPr/>
          <p:nvPr/>
        </p:nvSpPr>
        <p:spPr>
          <a:xfrm>
            <a:off x="7428600" y="2126160"/>
            <a:ext cx="6407640" cy="2456280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60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6"/>
          <p:cNvSpPr/>
          <p:nvPr/>
        </p:nvSpPr>
        <p:spPr>
          <a:xfrm>
            <a:off x="7398000" y="2126160"/>
            <a:ext cx="121680" cy="245628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7"/>
          <p:cNvSpPr/>
          <p:nvPr/>
        </p:nvSpPr>
        <p:spPr>
          <a:xfrm>
            <a:off x="7777440" y="2383200"/>
            <a:ext cx="511488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Голод, холод, оккупационный режим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8"/>
          <p:cNvSpPr/>
          <p:nvPr/>
        </p:nvSpPr>
        <p:spPr>
          <a:xfrm>
            <a:off x="7777440" y="2873520"/>
            <a:ext cx="580176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Более 4 млн человек</a:t>
            </a: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, включая жертв блокады Ленинграда — от 640 тыс. до 1 млн погибших в осаждённом городе.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9"/>
          <p:cNvSpPr/>
          <p:nvPr/>
        </p:nvSpPr>
        <p:spPr>
          <a:xfrm>
            <a:off x="793800" y="4809240"/>
            <a:ext cx="6407640" cy="2456280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60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0"/>
          <p:cNvSpPr/>
          <p:nvPr/>
        </p:nvSpPr>
        <p:spPr>
          <a:xfrm>
            <a:off x="763200" y="4809240"/>
            <a:ext cx="121680" cy="245628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1"/>
          <p:cNvSpPr/>
          <p:nvPr/>
        </p:nvSpPr>
        <p:spPr>
          <a:xfrm>
            <a:off x="1142640" y="50666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Остарбайтеры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2"/>
          <p:cNvSpPr/>
          <p:nvPr/>
        </p:nvSpPr>
        <p:spPr>
          <a:xfrm>
            <a:off x="1142640" y="5556960"/>
            <a:ext cx="58014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Из </a:t>
            </a:r>
            <a:r>
              <a:rPr lang="en-US" sz="175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5,2 млн</a:t>
            </a: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угнанных на рабский труд в Третий рейх — </a:t>
            </a:r>
            <a:r>
              <a:rPr lang="en-US" sz="1750" b="1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более 2,1 млн</a:t>
            </a: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 погибли от истощения и жестокого обращения.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3"/>
          <p:cNvSpPr/>
          <p:nvPr/>
        </p:nvSpPr>
        <p:spPr>
          <a:xfrm>
            <a:off x="7428600" y="4809240"/>
            <a:ext cx="6407640" cy="2456280"/>
          </a:xfrm>
          <a:prstGeom prst="roundRect">
            <a:avLst>
              <a:gd name="adj" fmla="val 5956"/>
            </a:avLst>
          </a:prstGeom>
          <a:solidFill>
            <a:srgbClr val="FFFFFF"/>
          </a:solidFill>
          <a:ln w="30600">
            <a:solidFill>
              <a:srgbClr val="D8D4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4"/>
          <p:cNvSpPr/>
          <p:nvPr/>
        </p:nvSpPr>
        <p:spPr>
          <a:xfrm>
            <a:off x="7398000" y="4809240"/>
            <a:ext cx="121680" cy="2456280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5"/>
          <p:cNvSpPr/>
          <p:nvPr/>
        </p:nvSpPr>
        <p:spPr>
          <a:xfrm>
            <a:off x="7777440" y="5066640"/>
            <a:ext cx="33735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464646"/>
                </a:solidFill>
                <a:effectLst/>
                <a:uFillTx/>
                <a:latin typeface="DM Sans Semi Bold"/>
                <a:ea typeface="DM Sans Semi Bold"/>
              </a:rPr>
              <a:t>Сверхсмертность в тылу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6"/>
          <p:cNvSpPr/>
          <p:nvPr/>
        </p:nvSpPr>
        <p:spPr>
          <a:xfrm>
            <a:off x="7777440" y="5556960"/>
            <a:ext cx="5801760" cy="145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Дефицит продовольствия, медикаментов и сверхтяжёлые условия труда на оборонных заводах — значительная доля потерь среди мирного населения.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793800" y="860760"/>
            <a:ext cx="12232800" cy="6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301"/>
              </a:lnSpc>
              <a:tabLst>
                <a:tab pos="0" algn="l"/>
              </a:tabLst>
            </a:pPr>
            <a:r>
              <a:rPr lang="en-US" sz="42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Советские военнопленные: масштаб трагедии</a:t>
            </a:r>
            <a:endParaRPr lang="ru-RU" sz="4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2" name="Image 0" descr="preencoded.png"/>
          <p:cNvPicPr/>
          <p:nvPr/>
        </p:nvPicPr>
        <p:blipFill>
          <a:blip r:embed="rId1"/>
          <a:stretch/>
        </p:blipFill>
        <p:spPr>
          <a:xfrm>
            <a:off x="793800" y="2071440"/>
            <a:ext cx="5943240" cy="337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3" name="Text 1"/>
          <p:cNvSpPr/>
          <p:nvPr/>
        </p:nvSpPr>
        <p:spPr>
          <a:xfrm>
            <a:off x="7585560" y="2045880"/>
            <a:ext cx="367632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65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~4,56 млн захвачено в плен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7585560" y="2586960"/>
            <a:ext cx="6258240" cy="6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99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Немецкие источники называли до 5,7 млн, включая гражданских и ополченцев.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"/>
          <p:cNvSpPr/>
          <p:nvPr/>
        </p:nvSpPr>
        <p:spPr>
          <a:xfrm>
            <a:off x="7585560" y="3463920"/>
            <a:ext cx="3571200" cy="33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650"/>
              </a:lnSpc>
              <a:tabLst>
                <a:tab pos="0" algn="l"/>
              </a:tabLst>
            </a:pPr>
            <a:r>
              <a:rPr lang="en-US" sz="210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~2,7 млн погибло в лагерях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4"/>
          <p:cNvSpPr/>
          <p:nvPr/>
        </p:nvSpPr>
        <p:spPr>
          <a:xfrm>
            <a:off x="7585560" y="4005360"/>
            <a:ext cx="6258240" cy="67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99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57–60% от общего числа пленных — против 3,5–5% у британских и американских солдат.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5"/>
          <p:cNvSpPr/>
          <p:nvPr/>
        </p:nvSpPr>
        <p:spPr>
          <a:xfrm>
            <a:off x="7585560" y="4907880"/>
            <a:ext cx="6258240" cy="2230560"/>
          </a:xfrm>
          <a:prstGeom prst="roundRect">
            <a:avLst>
              <a:gd name="adj" fmla="val 1449"/>
            </a:avLst>
          </a:prstGeom>
          <a:solidFill>
            <a:srgbClr val="BEF3E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8" name="Image 1" descr="preencoded.png"/>
          <p:cNvPicPr/>
          <p:nvPr/>
        </p:nvPicPr>
        <p:blipFill>
          <a:blip r:embed="rId2"/>
          <a:stretch/>
        </p:blipFill>
        <p:spPr>
          <a:xfrm>
            <a:off x="7801200" y="5232240"/>
            <a:ext cx="268920" cy="21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Text 6"/>
          <p:cNvSpPr/>
          <p:nvPr/>
        </p:nvSpPr>
        <p:spPr>
          <a:xfrm>
            <a:off x="8285760" y="5166360"/>
            <a:ext cx="5342760" cy="168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599"/>
              </a:lnSpc>
              <a:tabLst>
                <a:tab pos="0" algn="l"/>
              </a:tabLst>
            </a:pPr>
            <a:r>
              <a:rPr lang="en-US" sz="1650" b="0" u="none" strike="noStrike">
                <a:solidFill>
                  <a:srgbClr val="000000"/>
                </a:solidFill>
                <a:effectLst/>
                <a:uFillTx/>
                <a:latin typeface="Inter Medium"/>
                <a:ea typeface="Inter Medium"/>
              </a:rPr>
              <a:t>Третий рейх целенаправленно игнорировал нормы Гаагской и Женевской конвенций. Советские пленные рассматривались как «расово неполноценные» и подлежали планомерному уничтожению.</a:t>
            </a:r>
            <a:endParaRPr lang="ru-RU" sz="1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ext 0"/>
          <p:cNvSpPr/>
          <p:nvPr/>
        </p:nvSpPr>
        <p:spPr>
          <a:xfrm>
            <a:off x="704520" y="609120"/>
            <a:ext cx="7134480" cy="62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4949"/>
              </a:lnSpc>
              <a:tabLst>
                <a:tab pos="0" algn="l"/>
              </a:tabLst>
            </a:pPr>
            <a:r>
              <a:rPr lang="en-US" sz="39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Демографическое эхо войны</a:t>
            </a:r>
            <a:endParaRPr lang="ru-RU" sz="3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1"/>
          <a:stretch/>
        </p:blipFill>
        <p:spPr>
          <a:xfrm>
            <a:off x="704520" y="1595880"/>
            <a:ext cx="13220640" cy="5215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Text 1"/>
          <p:cNvSpPr/>
          <p:nvPr/>
        </p:nvSpPr>
        <p:spPr>
          <a:xfrm>
            <a:off x="2761200" y="3402000"/>
            <a:ext cx="26298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801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1941–1945</a:t>
            </a:r>
            <a:endParaRPr lang="ru-RU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"/>
          <p:cNvSpPr/>
          <p:nvPr/>
        </p:nvSpPr>
        <p:spPr>
          <a:xfrm>
            <a:off x="2761200" y="3861720"/>
            <a:ext cx="2629800" cy="54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1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Резкое падение рождаемости — вдвое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3"/>
          <p:cNvSpPr/>
          <p:nvPr/>
        </p:nvSpPr>
        <p:spPr>
          <a:xfrm>
            <a:off x="6031080" y="3464640"/>
            <a:ext cx="26298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801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Конец 1960‑х</a:t>
            </a:r>
            <a:endParaRPr lang="ru-RU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4"/>
          <p:cNvSpPr/>
          <p:nvPr/>
        </p:nvSpPr>
        <p:spPr>
          <a:xfrm>
            <a:off x="6031080" y="3924360"/>
            <a:ext cx="262980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1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Вступление в зрелость малочисленного поколения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5"/>
          <p:cNvSpPr/>
          <p:nvPr/>
        </p:nvSpPr>
        <p:spPr>
          <a:xfrm>
            <a:off x="9339120" y="3402000"/>
            <a:ext cx="262980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ctr">
              <a:lnSpc>
                <a:spcPts val="2801"/>
              </a:lnSpc>
              <a:tabLst>
                <a:tab pos="0" algn="l"/>
              </a:tabLst>
            </a:pPr>
            <a:r>
              <a:rPr lang="en-US" sz="22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1990‑е</a:t>
            </a:r>
            <a:endParaRPr lang="ru-RU" sz="2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6"/>
          <p:cNvSpPr/>
          <p:nvPr/>
        </p:nvSpPr>
        <p:spPr>
          <a:xfrm>
            <a:off x="9339120" y="3861720"/>
            <a:ext cx="2629800" cy="81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ctr">
              <a:lnSpc>
                <a:spcPts val="21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Третья волна на фоне экономического кризиса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7"/>
          <p:cNvSpPr/>
          <p:nvPr/>
        </p:nvSpPr>
        <p:spPr>
          <a:xfrm>
            <a:off x="704520" y="7012440"/>
            <a:ext cx="1322064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350"/>
              </a:lnSpc>
              <a:tabLst>
                <a:tab pos="0" algn="l"/>
              </a:tabLst>
            </a:pPr>
            <a:r>
              <a:rPr lang="en-US" sz="15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Дисбаланс полов (критически мало мужчин на 100 женщин 20–29 лет в 1945 г.) разрушил миллионы семей. Неравномерность возрастной пирамиды до сих пор влияет на рынок труда, пенсионную систему и социальную политику России.</a:t>
            </a:r>
            <a:endParaRPr lang="ru-RU" sz="15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Text 0"/>
          <p:cNvSpPr/>
          <p:nvPr/>
        </p:nvSpPr>
        <p:spPr>
          <a:xfrm>
            <a:off x="793800" y="1408680"/>
            <a:ext cx="5670360" cy="70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5550"/>
              </a:lnSpc>
              <a:tabLst>
                <a:tab pos="0" algn="l"/>
              </a:tabLst>
            </a:pPr>
            <a:r>
              <a:rPr lang="en-US" sz="4450" b="0" u="none" strike="noStrike">
                <a:solidFill>
                  <a:srgbClr val="030303"/>
                </a:solidFill>
                <a:effectLst/>
                <a:uFillTx/>
                <a:latin typeface="DM Sans Semi Bold"/>
                <a:ea typeface="DM Sans Semi Bold"/>
              </a:rPr>
              <a:t>Заключение</a:t>
            </a:r>
            <a:endParaRPr lang="ru-RU" sz="4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"/>
          <p:cNvSpPr/>
          <p:nvPr/>
        </p:nvSpPr>
        <p:spPr>
          <a:xfrm>
            <a:off x="1134000" y="2826360"/>
            <a:ext cx="12702240" cy="7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Понимание истинной цены Победы позволяет глубже осознать масштаб подвига народа и важность сохранения исторической правды для будущих поколений.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"/>
          <p:cNvSpPr/>
          <p:nvPr/>
        </p:nvSpPr>
        <p:spPr>
          <a:xfrm>
            <a:off x="793800" y="2571120"/>
            <a:ext cx="30240" cy="1235880"/>
          </a:xfrm>
          <a:prstGeom prst="rect">
            <a:avLst/>
          </a:prstGeom>
          <a:solidFill>
            <a:srgbClr val="1C977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"/>
          <p:cNvSpPr/>
          <p:nvPr/>
        </p:nvSpPr>
        <p:spPr>
          <a:xfrm>
            <a:off x="793800" y="4062240"/>
            <a:ext cx="4196160" cy="2758320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4"/>
          <p:cNvSpPr/>
          <p:nvPr/>
        </p:nvSpPr>
        <p:spPr>
          <a:xfrm>
            <a:off x="1020600" y="4289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DM Sans Semi Bold"/>
                <a:ea typeface="DM Sans Semi Bold"/>
              </a:rPr>
              <a:t>26,6 млн человек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5"/>
          <p:cNvSpPr/>
          <p:nvPr/>
        </p:nvSpPr>
        <p:spPr>
          <a:xfrm>
            <a:off x="1020600" y="4779360"/>
            <a:ext cx="3742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Наиболее обоснованная научная оценка — итог работы сотен историков и статистиков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6"/>
          <p:cNvSpPr/>
          <p:nvPr/>
        </p:nvSpPr>
        <p:spPr>
          <a:xfrm>
            <a:off x="5217120" y="4062240"/>
            <a:ext cx="4196160" cy="2758320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7"/>
          <p:cNvSpPr/>
          <p:nvPr/>
        </p:nvSpPr>
        <p:spPr>
          <a:xfrm>
            <a:off x="5443920" y="4289040"/>
            <a:ext cx="334836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DM Sans Semi Bold"/>
                <a:ea typeface="DM Sans Semi Bold"/>
              </a:rPr>
              <a:t>Военные и гражданские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8"/>
          <p:cNvSpPr/>
          <p:nvPr/>
        </p:nvSpPr>
        <p:spPr>
          <a:xfrm>
            <a:off x="5443920" y="4779360"/>
            <a:ext cx="3742200" cy="18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Более половины жертв — мирное население, целенаправленно уничтожавшееся нацистским режимом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9"/>
          <p:cNvSpPr/>
          <p:nvPr/>
        </p:nvSpPr>
        <p:spPr>
          <a:xfrm>
            <a:off x="9640080" y="4062240"/>
            <a:ext cx="4196160" cy="2758320"/>
          </a:xfrm>
          <a:prstGeom prst="roundRect">
            <a:avLst>
              <a:gd name="adj" fmla="val 1233"/>
            </a:avLst>
          </a:prstGeom>
          <a:solidFill>
            <a:srgbClr val="F2EE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0"/>
          <p:cNvSpPr/>
          <p:nvPr/>
        </p:nvSpPr>
        <p:spPr>
          <a:xfrm>
            <a:off x="9866880" y="4289040"/>
            <a:ext cx="2835000" cy="35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>
              <a:lnSpc>
                <a:spcPts val="275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DM Sans Semi Bold"/>
                <a:ea typeface="DM Sans Semi Bold"/>
              </a:rPr>
              <a:t>Живая проблема</a:t>
            </a:r>
            <a:endParaRPr lang="ru-RU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1"/>
          <p:cNvSpPr/>
          <p:nvPr/>
        </p:nvSpPr>
        <p:spPr>
          <a:xfrm>
            <a:off x="9866880" y="4779360"/>
            <a:ext cx="3742200" cy="108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>
              <a:lnSpc>
                <a:spcPts val="2849"/>
              </a:lnSpc>
              <a:tabLst>
                <a:tab pos="0" algn="l"/>
              </a:tabLst>
            </a:pPr>
            <a:r>
              <a:rPr lang="en-US" sz="1750" b="0" u="none" strike="noStrike">
                <a:solidFill>
                  <a:srgbClr val="464646"/>
                </a:solidFill>
                <a:effectLst/>
                <a:uFillTx/>
                <a:latin typeface="Inter Medium"/>
                <a:ea typeface="Inter Medium"/>
              </a:rPr>
              <a:t>Демографические последствия войны определяют социальный ландшафт страны по сей день</a:t>
            </a:r>
            <a:endParaRPr lang="ru-RU" sz="1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12780000" y="7740000"/>
            <a:ext cx="1850400" cy="489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LibreOffice/26.2.1.2$Linux_X86_64 LibreOffice_project/620$Build-2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2026-03-15T15:35:48Z</dcterms:created>
  <dc:creator/>
  <dc:description/>
  <dc:language>ru-RU</dc:language>
  <cp:lastModifiedBy/>
  <cp:lastPrinted>2026-03-16T10:45:08Z</cp:lastPrinted>
  <dcterms:modified xsi:type="dcterms:W3CDTF">2026-03-16T10:46:06Z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9</vt:r8>
  </property>
  <property fmtid="{D5CDD505-2E9C-101B-9397-08002B2CF9AE}" pid="3" name="PresentationFormat">
    <vt:lpwstr>On-screen Show (16:9)</vt:lpwstr>
  </property>
  <property fmtid="{D5CDD505-2E9C-101B-9397-08002B2CF9AE}" pid="4" name="Slides">
    <vt:r8>9</vt:r8>
  </property>
</Properties>
</file>